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62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Students</c:v>
                </c:pt>
              </c:strCache>
            </c:strRef>
          </c:tx>
          <c:spPr>
            <a:solidFill>
              <a:schemeClr val="accent1"/>
            </a:solidFill>
            <a:ln w="9525" cap="flat">
              <a:solidFill>
                <a:srgbClr val="F9F9F9"/>
              </a:solidFill>
              <a:prstDash val="solid"/>
              <a:round/>
            </a:ln>
            <a:effectLst/>
          </c:spPr>
          <c:dPt>
            <c:idx val="0"/>
            <c:bubble3D val="0"/>
            <c:spPr>
              <a:solidFill>
                <a:srgbClr val="8B5CF6"/>
              </a:solidFill>
              <a:effectLst/>
            </c:spPr>
            <c:extLst>
              <c:ext xmlns:c16="http://schemas.microsoft.com/office/drawing/2014/chart" uri="{C3380CC4-5D6E-409C-BE32-E72D297353CC}">
                <c16:uniqueId val="{00000001-B841-4534-BF67-DEC737207FDE}"/>
              </c:ext>
            </c:extLst>
          </c:dPt>
          <c:dPt>
            <c:idx val="1"/>
            <c:bubble3D val="0"/>
            <c:spPr>
              <a:solidFill>
                <a:srgbClr val="10B981"/>
              </a:solidFill>
              <a:effectLst/>
            </c:spPr>
            <c:extLst>
              <c:ext xmlns:c16="http://schemas.microsoft.com/office/drawing/2014/chart" uri="{C3380CC4-5D6E-409C-BE32-E72D297353CC}">
                <c16:uniqueId val="{00000003-B841-4534-BF67-DEC737207FDE}"/>
              </c:ext>
            </c:extLst>
          </c:dPt>
          <c:dPt>
            <c:idx val="2"/>
            <c:bubble3D val="0"/>
            <c:spPr>
              <a:solidFill>
                <a:srgbClr val="6D28D9"/>
              </a:solidFill>
              <a:effectLst/>
            </c:spPr>
            <c:extLst>
              <c:ext xmlns:c16="http://schemas.microsoft.com/office/drawing/2014/chart" uri="{C3380CC4-5D6E-409C-BE32-E72D297353CC}">
                <c16:uniqueId val="{00000005-B841-4534-BF67-DEC737207FDE}"/>
              </c:ext>
            </c:extLst>
          </c:dPt>
          <c:dPt>
            <c:idx val="3"/>
            <c:bubble3D val="0"/>
            <c:spPr>
              <a:solidFill>
                <a:srgbClr val="34D399"/>
              </a:solidFill>
              <a:effectLst/>
            </c:spPr>
            <c:extLst>
              <c:ext xmlns:c16="http://schemas.microsoft.com/office/drawing/2014/chart" uri="{C3380CC4-5D6E-409C-BE32-E72D297353CC}">
                <c16:uniqueId val="{00000007-B841-4534-BF67-DEC737207FDE}"/>
              </c:ext>
            </c:extLst>
          </c:dPt>
          <c:dLbls>
            <c:dLbl>
              <c:idx val="0"/>
              <c:numFmt formatCode="0%" sourceLinked="0"/>
              <c:spPr/>
              <c:txPr>
                <a:bodyPr/>
                <a:lstStyle/>
                <a:p>
                  <a:pPr>
                    <a:defRPr sz="900" b="0" i="0" u="none" strike="noStrike">
                      <a:solidFill>
                        <a:srgbClr val="F3F4F6"/>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841-4534-BF67-DEC737207FDE}"/>
                </c:ext>
              </c:extLst>
            </c:dLbl>
            <c:dLbl>
              <c:idx val="1"/>
              <c:numFmt formatCode="0%" sourceLinked="0"/>
              <c:spPr/>
              <c:txPr>
                <a:bodyPr/>
                <a:lstStyle/>
                <a:p>
                  <a:pPr>
                    <a:defRPr sz="900" b="0" i="0" u="none" strike="noStrike">
                      <a:solidFill>
                        <a:srgbClr val="F3F4F6"/>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841-4534-BF67-DEC737207FDE}"/>
                </c:ext>
              </c:extLst>
            </c:dLbl>
            <c:dLbl>
              <c:idx val="2"/>
              <c:numFmt formatCode="0%" sourceLinked="0"/>
              <c:spPr/>
              <c:txPr>
                <a:bodyPr/>
                <a:lstStyle/>
                <a:p>
                  <a:pPr>
                    <a:defRPr sz="900" b="0" i="0" u="none" strike="noStrike">
                      <a:solidFill>
                        <a:srgbClr val="F3F4F6"/>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B841-4534-BF67-DEC737207FDE}"/>
                </c:ext>
              </c:extLst>
            </c:dLbl>
            <c:dLbl>
              <c:idx val="3"/>
              <c:numFmt formatCode="0%" sourceLinked="0"/>
              <c:spPr/>
              <c:txPr>
                <a:bodyPr/>
                <a:lstStyle/>
                <a:p>
                  <a:pPr>
                    <a:defRPr sz="900" b="0" i="0" u="none" strike="noStrike">
                      <a:solidFill>
                        <a:srgbClr val="F3F4F6"/>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841-4534-BF67-DEC737207FDE}"/>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Comp. Science</c:v>
                </c:pt>
                <c:pt idx="1">
                  <c:v>Business</c:v>
                </c:pt>
                <c:pt idx="2">
                  <c:v>Engineering</c:v>
                </c:pt>
                <c:pt idx="3">
                  <c:v>Arts</c:v>
                </c:pt>
              </c:strCache>
            </c:strRef>
          </c:cat>
          <c:val>
            <c:numRef>
              <c:f>Sheet1!$B$2:$B$5</c:f>
              <c:numCache>
                <c:formatCode>General</c:formatCode>
                <c:ptCount val="4"/>
                <c:pt idx="0">
                  <c:v>38</c:v>
                </c:pt>
                <c:pt idx="1">
                  <c:v>27</c:v>
                </c:pt>
                <c:pt idx="2">
                  <c:v>22</c:v>
                </c:pt>
                <c:pt idx="3">
                  <c:v>13</c:v>
                </c:pt>
              </c:numCache>
            </c:numRef>
          </c:val>
          <c:extLst>
            <c:ext xmlns:c16="http://schemas.microsoft.com/office/drawing/2014/chart" uri="{C3380CC4-5D6E-409C-BE32-E72D297353CC}">
              <c16:uniqueId val="{00000008-B841-4534-BF67-DEC737207FDE}"/>
            </c:ext>
          </c:extLst>
        </c:ser>
        <c:dLbls>
          <c:showLegendKey val="0"/>
          <c:showVal val="0"/>
          <c:showCatName val="0"/>
          <c:showSerName val="0"/>
          <c:showPercent val="0"/>
          <c:showBubbleSize val="0"/>
          <c:showLeaderLines val="0"/>
        </c:dLbls>
        <c:firstSliceAng val="0"/>
      </c:pieChart>
      <c:spPr>
        <a:solidFill>
          <a:srgbClr val="281F38"/>
        </a:solidFill>
        <a:ln>
          <a:noFill/>
        </a:ln>
        <a:effectLst/>
      </c:spPr>
    </c:plotArea>
    <c:legend>
      <c:legendPos val="r"/>
      <c:overlay val="0"/>
      <c:txPr>
        <a:bodyPr/>
        <a:lstStyle/>
        <a:p>
          <a:pPr>
            <a:defRPr sz="900">
              <a:solidFill>
                <a:srgbClr val="9CA3AF"/>
              </a:solidFill>
            </a:defRPr>
          </a:pPr>
          <a:endParaRPr lang="en-US"/>
        </a:p>
      </c:txPr>
    </c:legend>
    <c:plotVisOnly val="1"/>
    <c:dispBlanksAs val="span"/>
    <c:showDLblsOverMax val="1"/>
  </c:chart>
  <c:spPr>
    <a:solidFill>
      <a:srgbClr val="281F3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Students</c:v>
                </c:pt>
              </c:strCache>
            </c:strRef>
          </c:tx>
          <c:spPr>
            <a:solidFill>
              <a:srgbClr val="10B981"/>
            </a:solidFill>
            <a:effectLst/>
          </c:spPr>
          <c:invertIfNegative val="0"/>
          <c:dLbls>
            <c:numFmt formatCode="#,##0" sourceLinked="0"/>
            <c:spPr>
              <a:noFill/>
              <a:ln>
                <a:noFill/>
              </a:ln>
              <a:effectLst/>
            </c:spPr>
            <c:txPr>
              <a:bodyPr/>
              <a:lstStyle/>
              <a:p>
                <a:pPr>
                  <a:defRPr sz="1200" b="0" i="0" u="none" strike="noStrike">
                    <a:solidFill>
                      <a:srgbClr val="F3F4F6"/>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CS101</c:v>
                </c:pt>
                <c:pt idx="1">
                  <c:v>CS201</c:v>
                </c:pt>
                <c:pt idx="2">
                  <c:v>BUS110</c:v>
                </c:pt>
                <c:pt idx="3">
                  <c:v>ENG150</c:v>
                </c:pt>
              </c:strCache>
            </c:strRef>
          </c:cat>
          <c:val>
            <c:numRef>
              <c:f>Sheet1!$B$2:$B$5</c:f>
              <c:numCache>
                <c:formatCode>General</c:formatCode>
                <c:ptCount val="4"/>
                <c:pt idx="0">
                  <c:v>42</c:v>
                </c:pt>
                <c:pt idx="1">
                  <c:v>31</c:v>
                </c:pt>
                <c:pt idx="2">
                  <c:v>36</c:v>
                </c:pt>
                <c:pt idx="3">
                  <c:v>24</c:v>
                </c:pt>
              </c:numCache>
            </c:numRef>
          </c:val>
          <c:extLst>
            <c:ext xmlns:c16="http://schemas.microsoft.com/office/drawing/2014/chart" uri="{C3380CC4-5D6E-409C-BE32-E72D297353CC}">
              <c16:uniqueId val="{00000000-F10C-425F-A5E9-85DA027CF0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37304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CA3AF"/>
                </a:solidFill>
                <a:latin typeface="Arial"/>
              </a:defRPr>
            </a:pPr>
            <a:endParaRPr lang="en-US"/>
          </a:p>
        </c:txPr>
        <c:crossAx val="2094734554"/>
        <c:crosses val="autoZero"/>
        <c:crossBetween val="between"/>
      </c:valAx>
      <c:spPr>
        <a:solidFill>
          <a:srgbClr val="281F38"/>
        </a:solidFill>
        <a:ln>
          <a:noFill/>
        </a:ln>
        <a:effectLst/>
      </c:spPr>
    </c:plotArea>
    <c:plotVisOnly val="1"/>
    <c:dispBlanksAs val="span"/>
    <c:showDLblsOverMax val="1"/>
  </c:chart>
  <c:spPr>
    <a:solidFill>
      <a:srgbClr val="281F3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835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walking through the University Management System, a desktop application built in C# WinForms with Entity Framework and SQL Server. It gives a university three role-based portals — Administrator, Instructor, and Student — for managing academic records in one place. Over the next few minutes I'll cover the architecture, the database design, the core modules, and the visual design language before wrapping up with future enhancements.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so you know where we're headed: overview, tech stack, architecture, the database model, how login and roles work, then a tour of the core modules — admin tools, student and instructor records, courses, enrollment, scheduling, and reporting — followed by the visual design and a few ideas for what's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core, this is a record-keeping and workflow tool for a university. Instead of admin staff juggling spreadsheets, everything lives in one SQL Server database, accessed through purpose-built screens for three audiences: administrators who run the day-to-day operations, instructors who need visibility into their courses, and students who need a simple way to see their own academic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is built on the classic .NET desktop stack: C# on .NET Framework 4.7.2, with Windows Forms for the UI. Entity Framework 5 handles most data access through a typed model generated from the database, while a few screens — scheduling and reporting — talk to SQL Server directly through ADO.NET, which is also what powers the pie and column charts in the Reports module.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follows a straightforward three-layer architecture. At the top, Windows Forms screens handle everything the user sees and interacts with. In the middle, the data access layer is mostly Entity Framework, which maps database tables to C# objects automatically, with a handful of forms — scheduling and reporting — querying SQL Server directly for more specialized logic. At the bottom sits the SQL Server database itself, which is the single source of truth for every screen.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follows a classic academic schema, built visually with the Entity Framework designer. Departments own courses and instructors; courses are offered as sections, each tied to a classroom and a time slot. Students enroll through the 'takes' table, which also stores their grade for that section and semester. The 'advisor' table is a simple link between a student and their assigned instructor, and a separate 'user' table — independent of the academic data — handles authentication and role assignment.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navigation both start at one place: the login form. It checks the username and password against the user table, and if there's a match, it reads that user's role and opens the matching dashboard — Administrator, Instructor, or Student. This keeps authentication centralized in one form, rather than duplicated across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an administrator logs in, they land on this dashboard, which acts purely as a launcher. Every button opens a dedicated form — Student, Instructor, Department, Course, Enrollment, Scheduling, and Reports &amp; Analytics — each running independently so an admin can have several open at once. There's also a logout option that closes the dashboard and returns to the login screen.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and instructor management follow the same pattern: a data grid for browsing, and a form for adding, updating, or deleting records. For students, the system checks that the department exists and that the ID isn't already taken before it lets you save — small guardrails that keep the data clean. Instructor records work the same way, and both tie back into the broader schema through department, advisor, and section relationships.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Courses and departments are the backbone the rest of the system hangs off of — every student, instructor, and section references a department, and every section references a course. Both forms support full add, update, and delete, with the same duplicate-checking and confirmation prompts you saw on the student and instructor screens, so deleting something important always asks first.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Enrollment is where students, courses, and sections come together. Before any record is saved, the form checks that both the student and the course actually exist and that this exact enrollment doesn't already exist — which prevents orphaned records and double enrollment. Like the other modules, updates and deletes ask for confirmation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Scheduling is one of the more advanced modules. Beyond basic create, update, and delete, it includes a dedicated 'check conflicts' action: enter a day and a time range, and it scans the database for any time slot on that day whose start or end overlaps. That's the kind of logic that prevents two classes from being booked into the same room or time, which is a real pain point in manual scheduling.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&amp; Analytics gives administrators two ways to look at the data: plain grid views — rosters, the course catalog, and a joined report combining student, course, and grade — and visual charts built on the same live queries. The charts on screen here use illustrative numbers to show the format; in the running application, they're generated straight from your SQL Server data with a single button click.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identity isn't just a coat of paint — it's implemented as a single StyleHelper class that every form calls into when it loads. That's why the login screen, the admin dashboard, and every data-entry form all feel like one cohesive product: dark backgrounds, the same purple and green accent colors, and consistent typography throughout.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this project delivers a complete, role-based academic management system with real guardrails — validation, duplicate checks, and conflict detection — not just basic data entry screens. Looking ahead, the highest-impact next steps would be security hardening, since passwords are currently stored in plain text, followed by modernizing the front end and adding richer analytics.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1C"/>
        </a:solidFill>
        <a:effectLst/>
      </p:bgPr>
    </p:bg>
    <p:spTree>
      <p:nvGrpSpPr>
        <p:cNvPr id="1" name=""/>
        <p:cNvGrpSpPr/>
        <p:nvPr/>
      </p:nvGrpSpPr>
      <p:grpSpPr>
        <a:xfrm>
          <a:off x="0" y="0"/>
          <a:ext cx="0" cy="0"/>
          <a:chOff x="0" y="0"/>
          <a:chExt cx="0" cy="0"/>
        </a:xfrm>
      </p:grpSpPr>
      <p:sp>
        <p:nvSpPr>
          <p:cNvPr id="2" name="Shape 0"/>
          <p:cNvSpPr/>
          <p:nvPr/>
        </p:nvSpPr>
        <p:spPr>
          <a:xfrm>
            <a:off x="-2011680" y="-2194560"/>
            <a:ext cx="5943600" cy="5943600"/>
          </a:xfrm>
          <a:prstGeom prst="ellipse">
            <a:avLst/>
          </a:prstGeom>
          <a:solidFill>
            <a:srgbClr val="8B5CF6">
              <a:alpha val="12000"/>
            </a:srgbClr>
          </a:solidFill>
          <a:ln/>
        </p:spPr>
      </p:sp>
      <p:sp>
        <p:nvSpPr>
          <p:cNvPr id="3" name="Shape 1"/>
          <p:cNvSpPr/>
          <p:nvPr/>
        </p:nvSpPr>
        <p:spPr>
          <a:xfrm>
            <a:off x="8076895" y="3017520"/>
            <a:ext cx="5943600" cy="5943600"/>
          </a:xfrm>
          <a:prstGeom prst="ellipse">
            <a:avLst/>
          </a:prstGeom>
          <a:solidFill>
            <a:srgbClr val="10B981">
              <a:alpha val="10000"/>
            </a:srgbClr>
          </a:solidFill>
          <a:ln/>
        </p:spPr>
      </p:sp>
      <p:sp>
        <p:nvSpPr>
          <p:cNvPr id="4" name="Shape 2"/>
          <p:cNvSpPr/>
          <p:nvPr/>
        </p:nvSpPr>
        <p:spPr>
          <a:xfrm>
            <a:off x="5410048" y="1280160"/>
            <a:ext cx="1371600" cy="1371600"/>
          </a:xfrm>
          <a:prstGeom prst="ellipse">
            <a:avLst/>
          </a:prstGeom>
          <a:solidFill>
            <a:srgbClr val="8B5CF6"/>
          </a:solidFill>
          <a:ln/>
        </p:spPr>
      </p:sp>
      <p:pic>
        <p:nvPicPr>
          <p:cNvPr id="5" name="Image 0" descr="/home/claude/work/build/icons/title_university.png"/>
          <p:cNvPicPr>
            <a:picLocks noChangeAspect="1"/>
          </p:cNvPicPr>
          <p:nvPr/>
        </p:nvPicPr>
        <p:blipFill>
          <a:blip r:embed="rId3"/>
          <a:stretch>
            <a:fillRect/>
          </a:stretch>
        </p:blipFill>
        <p:spPr>
          <a:xfrm>
            <a:off x="5739232" y="1609344"/>
            <a:ext cx="713232" cy="713232"/>
          </a:xfrm>
          <a:prstGeom prst="rect">
            <a:avLst/>
          </a:prstGeom>
        </p:spPr>
      </p:pic>
      <p:sp>
        <p:nvSpPr>
          <p:cNvPr id="6" name="Text 3"/>
          <p:cNvSpPr/>
          <p:nvPr/>
        </p:nvSpPr>
        <p:spPr>
          <a:xfrm>
            <a:off x="731520" y="2880360"/>
            <a:ext cx="10728655" cy="822960"/>
          </a:xfrm>
          <a:prstGeom prst="rect">
            <a:avLst/>
          </a:prstGeom>
          <a:noFill/>
          <a:ln/>
        </p:spPr>
        <p:txBody>
          <a:bodyPr wrap="square" lIns="0" tIns="0" rIns="0" bIns="0" rtlCol="0" anchor="ctr"/>
          <a:lstStyle/>
          <a:p>
            <a:pPr marL="0" indent="0" algn="ctr">
              <a:buNone/>
            </a:pPr>
            <a:r>
              <a:rPr lang="en-US" sz="4000" b="1" dirty="0">
                <a:solidFill>
                  <a:srgbClr val="F3F4F6"/>
                </a:solidFill>
                <a:latin typeface="Calibri" pitchFamily="34" charset="0"/>
                <a:ea typeface="Calibri" pitchFamily="34" charset="-122"/>
                <a:cs typeface="Calibri" pitchFamily="34" charset="-120"/>
              </a:rPr>
              <a:t>UNIVERSITY MANAGEMENT SYSTEM</a:t>
            </a:r>
            <a:endParaRPr lang="en-US" sz="4000" dirty="0"/>
          </a:p>
        </p:txBody>
      </p:sp>
      <p:sp>
        <p:nvSpPr>
          <p:cNvPr id="7" name="Text 4"/>
          <p:cNvSpPr/>
          <p:nvPr/>
        </p:nvSpPr>
        <p:spPr>
          <a:xfrm>
            <a:off x="1371600" y="3611880"/>
            <a:ext cx="9448495" cy="502920"/>
          </a:xfrm>
          <a:prstGeom prst="rect">
            <a:avLst/>
          </a:prstGeom>
          <a:noFill/>
          <a:ln/>
        </p:spPr>
        <p:txBody>
          <a:bodyPr wrap="square" lIns="0" tIns="0" rIns="0" bIns="0" rtlCol="0" anchor="ctr"/>
          <a:lstStyle/>
          <a:p>
            <a:pPr marL="0" indent="0" algn="ctr">
              <a:buNone/>
            </a:pPr>
            <a:r>
              <a:rPr lang="en-US" sz="1700" dirty="0">
                <a:solidFill>
                  <a:srgbClr val="10B981"/>
                </a:solidFill>
                <a:latin typeface="Calibri" pitchFamily="34" charset="0"/>
                <a:ea typeface="Calibri" pitchFamily="34" charset="-122"/>
                <a:cs typeface="Calibri" pitchFamily="34" charset="-120"/>
              </a:rPr>
              <a:t>A Role-Based Desktop Application for Academic Administration</a:t>
            </a:r>
            <a:endParaRPr lang="en-US" sz="1700" dirty="0"/>
          </a:p>
        </p:txBody>
      </p:sp>
      <p:sp>
        <p:nvSpPr>
          <p:cNvPr id="8" name="Shape 5"/>
          <p:cNvSpPr/>
          <p:nvPr/>
        </p:nvSpPr>
        <p:spPr>
          <a:xfrm>
            <a:off x="1089508" y="4526280"/>
            <a:ext cx="2331720" cy="457200"/>
          </a:xfrm>
          <a:prstGeom prst="roundRect">
            <a:avLst>
              <a:gd name="adj" fmla="val 50000"/>
            </a:avLst>
          </a:prstGeom>
          <a:solidFill>
            <a:srgbClr val="201A2C"/>
          </a:solidFill>
          <a:ln w="12700">
            <a:solidFill>
              <a:srgbClr val="373047"/>
            </a:solidFill>
            <a:prstDash val="solid"/>
          </a:ln>
        </p:spPr>
      </p:sp>
      <p:sp>
        <p:nvSpPr>
          <p:cNvPr id="9" name="Text 6"/>
          <p:cNvSpPr/>
          <p:nvPr/>
        </p:nvSpPr>
        <p:spPr>
          <a:xfrm>
            <a:off x="1089508" y="4526280"/>
            <a:ext cx="2331720" cy="45720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C# / .NET 4.7.2</a:t>
            </a:r>
            <a:endParaRPr lang="en-US" sz="1150" dirty="0"/>
          </a:p>
        </p:txBody>
      </p:sp>
      <p:sp>
        <p:nvSpPr>
          <p:cNvPr id="10" name="Shape 7"/>
          <p:cNvSpPr/>
          <p:nvPr/>
        </p:nvSpPr>
        <p:spPr>
          <a:xfrm>
            <a:off x="3649828" y="4526280"/>
            <a:ext cx="2331720" cy="457200"/>
          </a:xfrm>
          <a:prstGeom prst="roundRect">
            <a:avLst>
              <a:gd name="adj" fmla="val 50000"/>
            </a:avLst>
          </a:prstGeom>
          <a:solidFill>
            <a:srgbClr val="201A2C"/>
          </a:solidFill>
          <a:ln w="12700">
            <a:solidFill>
              <a:srgbClr val="373047"/>
            </a:solidFill>
            <a:prstDash val="solid"/>
          </a:ln>
        </p:spPr>
      </p:sp>
      <p:sp>
        <p:nvSpPr>
          <p:cNvPr id="11" name="Text 8"/>
          <p:cNvSpPr/>
          <p:nvPr/>
        </p:nvSpPr>
        <p:spPr>
          <a:xfrm>
            <a:off x="3649828" y="4526280"/>
            <a:ext cx="2331720" cy="45720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Windows Forms</a:t>
            </a:r>
            <a:endParaRPr lang="en-US" sz="1150" dirty="0"/>
          </a:p>
        </p:txBody>
      </p:sp>
      <p:sp>
        <p:nvSpPr>
          <p:cNvPr id="12" name="Shape 9"/>
          <p:cNvSpPr/>
          <p:nvPr/>
        </p:nvSpPr>
        <p:spPr>
          <a:xfrm>
            <a:off x="6210148" y="4526280"/>
            <a:ext cx="2331720" cy="457200"/>
          </a:xfrm>
          <a:prstGeom prst="roundRect">
            <a:avLst>
              <a:gd name="adj" fmla="val 50000"/>
            </a:avLst>
          </a:prstGeom>
          <a:solidFill>
            <a:srgbClr val="201A2C"/>
          </a:solidFill>
          <a:ln w="12700">
            <a:solidFill>
              <a:srgbClr val="373047"/>
            </a:solidFill>
            <a:prstDash val="solid"/>
          </a:ln>
        </p:spPr>
      </p:sp>
      <p:sp>
        <p:nvSpPr>
          <p:cNvPr id="13" name="Text 10"/>
          <p:cNvSpPr/>
          <p:nvPr/>
        </p:nvSpPr>
        <p:spPr>
          <a:xfrm>
            <a:off x="6210148" y="4526280"/>
            <a:ext cx="2331720" cy="45720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Entity Framework 5</a:t>
            </a:r>
            <a:endParaRPr lang="en-US" sz="1150" dirty="0"/>
          </a:p>
        </p:txBody>
      </p:sp>
      <p:sp>
        <p:nvSpPr>
          <p:cNvPr id="14" name="Shape 11"/>
          <p:cNvSpPr/>
          <p:nvPr/>
        </p:nvSpPr>
        <p:spPr>
          <a:xfrm>
            <a:off x="8770468" y="4526280"/>
            <a:ext cx="2331720" cy="457200"/>
          </a:xfrm>
          <a:prstGeom prst="roundRect">
            <a:avLst>
              <a:gd name="adj" fmla="val 50000"/>
            </a:avLst>
          </a:prstGeom>
          <a:solidFill>
            <a:srgbClr val="201A2C"/>
          </a:solidFill>
          <a:ln w="12700">
            <a:solidFill>
              <a:srgbClr val="373047"/>
            </a:solidFill>
            <a:prstDash val="solid"/>
          </a:ln>
        </p:spPr>
      </p:sp>
      <p:sp>
        <p:nvSpPr>
          <p:cNvPr id="15" name="Text 12"/>
          <p:cNvSpPr/>
          <p:nvPr/>
        </p:nvSpPr>
        <p:spPr>
          <a:xfrm>
            <a:off x="8770468" y="4526280"/>
            <a:ext cx="2331720" cy="45720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SQL Server</a:t>
            </a:r>
            <a:endParaRPr lang="en-US" sz="1150" dirty="0"/>
          </a:p>
        </p:txBody>
      </p:sp>
      <p:sp>
        <p:nvSpPr>
          <p:cNvPr id="16" name="Text 13"/>
          <p:cNvSpPr/>
          <p:nvPr/>
        </p:nvSpPr>
        <p:spPr>
          <a:xfrm>
            <a:off x="0" y="6126480"/>
            <a:ext cx="12191695" cy="530352"/>
          </a:xfrm>
          <a:prstGeom prst="rect">
            <a:avLst/>
          </a:prstGeom>
          <a:noFill/>
          <a:ln/>
        </p:spPr>
        <p:txBody>
          <a:bodyPr wrap="square" lIns="0" tIns="0" rIns="0" bIns="0" rtlCol="0" anchor="ctr"/>
          <a:lstStyle/>
          <a:p>
            <a:pPr marL="0" indent="0" algn="ctr">
              <a:buNone/>
            </a:pPr>
            <a:r>
              <a:rPr lang="en-US" sz="1200" dirty="0" smtClean="0">
                <a:solidFill>
                  <a:srgbClr val="9CA3AF"/>
                </a:solidFill>
                <a:latin typeface="Calibri" pitchFamily="34" charset="0"/>
                <a:ea typeface="Calibri" pitchFamily="34" charset="-122"/>
                <a:cs typeface="Calibri" pitchFamily="34" charset="-120"/>
              </a:rPr>
              <a:t>Li </a:t>
            </a:r>
            <a:r>
              <a:rPr lang="en-US" sz="1200" dirty="0" err="1" smtClean="0">
                <a:solidFill>
                  <a:srgbClr val="9CA3AF"/>
                </a:solidFill>
                <a:latin typeface="Calibri" pitchFamily="34" charset="0"/>
                <a:ea typeface="Calibri" pitchFamily="34" charset="-122"/>
                <a:cs typeface="Calibri" pitchFamily="34" charset="-120"/>
              </a:rPr>
              <a:t>Jia</a:t>
            </a:r>
            <a:r>
              <a:rPr lang="en-US" sz="1200" dirty="0" smtClean="0">
                <a:solidFill>
                  <a:srgbClr val="9CA3AF"/>
                </a:solidFill>
                <a:latin typeface="Calibri" pitchFamily="34" charset="0"/>
                <a:ea typeface="Calibri" pitchFamily="34" charset="-122"/>
                <a:cs typeface="Calibri" pitchFamily="34" charset="-120"/>
              </a:rPr>
              <a:t>-Yi (25101301) and Ai Xing-Yao (25101323)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What We'll Cover</a:t>
            </a:r>
            <a:endParaRPr lang="en-US" sz="3000" dirty="0"/>
          </a:p>
        </p:txBody>
      </p:sp>
      <p:sp>
        <p:nvSpPr>
          <p:cNvPr id="4" name="Shape 2"/>
          <p:cNvSpPr/>
          <p:nvPr/>
        </p:nvSpPr>
        <p:spPr>
          <a:xfrm>
            <a:off x="548640" y="1600200"/>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5" name="Shape 3"/>
          <p:cNvSpPr/>
          <p:nvPr/>
        </p:nvSpPr>
        <p:spPr>
          <a:xfrm>
            <a:off x="749808" y="1883664"/>
            <a:ext cx="512064" cy="512064"/>
          </a:xfrm>
          <a:prstGeom prst="ellipse">
            <a:avLst/>
          </a:prstGeom>
          <a:solidFill>
            <a:srgbClr val="8B5CF6"/>
          </a:solidFill>
          <a:ln/>
        </p:spPr>
      </p:sp>
      <p:sp>
        <p:nvSpPr>
          <p:cNvPr id="6" name="Text 4"/>
          <p:cNvSpPr/>
          <p:nvPr/>
        </p:nvSpPr>
        <p:spPr>
          <a:xfrm>
            <a:off x="749808" y="1883664"/>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17320" y="1746504"/>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Project Overview</a:t>
            </a:r>
            <a:endParaRPr lang="en-US" sz="1500" dirty="0"/>
          </a:p>
        </p:txBody>
      </p:sp>
      <p:sp>
        <p:nvSpPr>
          <p:cNvPr id="8" name="Text 6"/>
          <p:cNvSpPr/>
          <p:nvPr/>
        </p:nvSpPr>
        <p:spPr>
          <a:xfrm>
            <a:off x="1417320" y="2112264"/>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What the system does and who it serves</a:t>
            </a:r>
            <a:endParaRPr lang="en-US" sz="1150" dirty="0"/>
          </a:p>
        </p:txBody>
      </p:sp>
      <p:sp>
        <p:nvSpPr>
          <p:cNvPr id="9" name="Shape 7"/>
          <p:cNvSpPr/>
          <p:nvPr/>
        </p:nvSpPr>
        <p:spPr>
          <a:xfrm>
            <a:off x="548640" y="2843784"/>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0" name="Shape 8"/>
          <p:cNvSpPr/>
          <p:nvPr/>
        </p:nvSpPr>
        <p:spPr>
          <a:xfrm>
            <a:off x="749808" y="3127248"/>
            <a:ext cx="512064" cy="512064"/>
          </a:xfrm>
          <a:prstGeom prst="ellipse">
            <a:avLst/>
          </a:prstGeom>
          <a:solidFill>
            <a:srgbClr val="10B981"/>
          </a:solidFill>
          <a:ln/>
        </p:spPr>
      </p:sp>
      <p:sp>
        <p:nvSpPr>
          <p:cNvPr id="11" name="Text 9"/>
          <p:cNvSpPr/>
          <p:nvPr/>
        </p:nvSpPr>
        <p:spPr>
          <a:xfrm>
            <a:off x="749808" y="3127248"/>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17320" y="2990088"/>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Technology Stack</a:t>
            </a:r>
            <a:endParaRPr lang="en-US" sz="1500" dirty="0"/>
          </a:p>
        </p:txBody>
      </p:sp>
      <p:sp>
        <p:nvSpPr>
          <p:cNvPr id="13" name="Text 11"/>
          <p:cNvSpPr/>
          <p:nvPr/>
        </p:nvSpPr>
        <p:spPr>
          <a:xfrm>
            <a:off x="1417320" y="3355848"/>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The tools and frameworks behind it</a:t>
            </a:r>
            <a:endParaRPr lang="en-US" sz="1150" dirty="0"/>
          </a:p>
        </p:txBody>
      </p:sp>
      <p:sp>
        <p:nvSpPr>
          <p:cNvPr id="14" name="Shape 12"/>
          <p:cNvSpPr/>
          <p:nvPr/>
        </p:nvSpPr>
        <p:spPr>
          <a:xfrm>
            <a:off x="548640" y="4087368"/>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5" name="Shape 13"/>
          <p:cNvSpPr/>
          <p:nvPr/>
        </p:nvSpPr>
        <p:spPr>
          <a:xfrm>
            <a:off x="749808" y="4370832"/>
            <a:ext cx="512064" cy="512064"/>
          </a:xfrm>
          <a:prstGeom prst="ellipse">
            <a:avLst/>
          </a:prstGeom>
          <a:solidFill>
            <a:srgbClr val="8B5CF6"/>
          </a:solidFill>
          <a:ln/>
        </p:spPr>
      </p:sp>
      <p:sp>
        <p:nvSpPr>
          <p:cNvPr id="16" name="Text 14"/>
          <p:cNvSpPr/>
          <p:nvPr/>
        </p:nvSpPr>
        <p:spPr>
          <a:xfrm>
            <a:off x="749808" y="4370832"/>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17320" y="4233672"/>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System Architecture</a:t>
            </a:r>
            <a:endParaRPr lang="en-US" sz="1500" dirty="0"/>
          </a:p>
        </p:txBody>
      </p:sp>
      <p:sp>
        <p:nvSpPr>
          <p:cNvPr id="18" name="Text 16"/>
          <p:cNvSpPr/>
          <p:nvPr/>
        </p:nvSpPr>
        <p:spPr>
          <a:xfrm>
            <a:off x="1417320" y="4599432"/>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How the layers fit together</a:t>
            </a:r>
            <a:endParaRPr lang="en-US" sz="1150" dirty="0"/>
          </a:p>
        </p:txBody>
      </p:sp>
      <p:sp>
        <p:nvSpPr>
          <p:cNvPr id="19" name="Shape 17"/>
          <p:cNvSpPr/>
          <p:nvPr/>
        </p:nvSpPr>
        <p:spPr>
          <a:xfrm>
            <a:off x="548640" y="5330952"/>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0" name="Shape 18"/>
          <p:cNvSpPr/>
          <p:nvPr/>
        </p:nvSpPr>
        <p:spPr>
          <a:xfrm>
            <a:off x="749808" y="5614416"/>
            <a:ext cx="512064" cy="512064"/>
          </a:xfrm>
          <a:prstGeom prst="ellipse">
            <a:avLst/>
          </a:prstGeom>
          <a:solidFill>
            <a:srgbClr val="10B981"/>
          </a:solidFill>
          <a:ln/>
        </p:spPr>
      </p:sp>
      <p:sp>
        <p:nvSpPr>
          <p:cNvPr id="21" name="Text 19"/>
          <p:cNvSpPr/>
          <p:nvPr/>
        </p:nvSpPr>
        <p:spPr>
          <a:xfrm>
            <a:off x="749808" y="5614416"/>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417320" y="5477256"/>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Database Design</a:t>
            </a:r>
            <a:endParaRPr lang="en-US" sz="1500" dirty="0"/>
          </a:p>
        </p:txBody>
      </p:sp>
      <p:sp>
        <p:nvSpPr>
          <p:cNvPr id="23" name="Text 21"/>
          <p:cNvSpPr/>
          <p:nvPr/>
        </p:nvSpPr>
        <p:spPr>
          <a:xfrm>
            <a:off x="1417320" y="5843016"/>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The data model behind every screen</a:t>
            </a:r>
            <a:endParaRPr lang="en-US" sz="1150" dirty="0"/>
          </a:p>
        </p:txBody>
      </p:sp>
      <p:sp>
        <p:nvSpPr>
          <p:cNvPr id="24" name="Shape 22"/>
          <p:cNvSpPr/>
          <p:nvPr/>
        </p:nvSpPr>
        <p:spPr>
          <a:xfrm>
            <a:off x="6217920" y="1600200"/>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5" name="Shape 23"/>
          <p:cNvSpPr/>
          <p:nvPr/>
        </p:nvSpPr>
        <p:spPr>
          <a:xfrm>
            <a:off x="6419088" y="1883664"/>
            <a:ext cx="512064" cy="512064"/>
          </a:xfrm>
          <a:prstGeom prst="ellipse">
            <a:avLst/>
          </a:prstGeom>
          <a:solidFill>
            <a:srgbClr val="8B5CF6"/>
          </a:solidFill>
          <a:ln/>
        </p:spPr>
      </p:sp>
      <p:sp>
        <p:nvSpPr>
          <p:cNvPr id="26" name="Text 24"/>
          <p:cNvSpPr/>
          <p:nvPr/>
        </p:nvSpPr>
        <p:spPr>
          <a:xfrm>
            <a:off x="6419088" y="1883664"/>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7086600" y="1746504"/>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Roles &amp; Login</a:t>
            </a:r>
            <a:endParaRPr lang="en-US" sz="1500" dirty="0"/>
          </a:p>
        </p:txBody>
      </p:sp>
      <p:sp>
        <p:nvSpPr>
          <p:cNvPr id="28" name="Text 26"/>
          <p:cNvSpPr/>
          <p:nvPr/>
        </p:nvSpPr>
        <p:spPr>
          <a:xfrm>
            <a:off x="7086600" y="2112264"/>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How access is controlled</a:t>
            </a:r>
            <a:endParaRPr lang="en-US" sz="1150" dirty="0"/>
          </a:p>
        </p:txBody>
      </p:sp>
      <p:sp>
        <p:nvSpPr>
          <p:cNvPr id="29" name="Shape 27"/>
          <p:cNvSpPr/>
          <p:nvPr/>
        </p:nvSpPr>
        <p:spPr>
          <a:xfrm>
            <a:off x="6217920" y="2843784"/>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30" name="Shape 28"/>
          <p:cNvSpPr/>
          <p:nvPr/>
        </p:nvSpPr>
        <p:spPr>
          <a:xfrm>
            <a:off x="6419088" y="3127248"/>
            <a:ext cx="512064" cy="512064"/>
          </a:xfrm>
          <a:prstGeom prst="ellipse">
            <a:avLst/>
          </a:prstGeom>
          <a:solidFill>
            <a:srgbClr val="10B981"/>
          </a:solidFill>
          <a:ln/>
        </p:spPr>
      </p:sp>
      <p:sp>
        <p:nvSpPr>
          <p:cNvPr id="31" name="Text 29"/>
          <p:cNvSpPr/>
          <p:nvPr/>
        </p:nvSpPr>
        <p:spPr>
          <a:xfrm>
            <a:off x="6419088" y="3127248"/>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7086600" y="2990088"/>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Core Modules</a:t>
            </a:r>
            <a:endParaRPr lang="en-US" sz="1500" dirty="0"/>
          </a:p>
        </p:txBody>
      </p:sp>
      <p:sp>
        <p:nvSpPr>
          <p:cNvPr id="33" name="Text 31"/>
          <p:cNvSpPr/>
          <p:nvPr/>
        </p:nvSpPr>
        <p:spPr>
          <a:xfrm>
            <a:off x="7086600" y="3355848"/>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Admin, student, course, scheduling &amp; reports</a:t>
            </a:r>
            <a:endParaRPr lang="en-US" sz="1150" dirty="0"/>
          </a:p>
        </p:txBody>
      </p:sp>
      <p:sp>
        <p:nvSpPr>
          <p:cNvPr id="34" name="Shape 32"/>
          <p:cNvSpPr/>
          <p:nvPr/>
        </p:nvSpPr>
        <p:spPr>
          <a:xfrm>
            <a:off x="6217920" y="4087368"/>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35" name="Shape 33"/>
          <p:cNvSpPr/>
          <p:nvPr/>
        </p:nvSpPr>
        <p:spPr>
          <a:xfrm>
            <a:off x="6419088" y="4370832"/>
            <a:ext cx="512064" cy="512064"/>
          </a:xfrm>
          <a:prstGeom prst="ellipse">
            <a:avLst/>
          </a:prstGeom>
          <a:solidFill>
            <a:srgbClr val="8B5CF6"/>
          </a:solidFill>
          <a:ln/>
        </p:spPr>
      </p:sp>
      <p:sp>
        <p:nvSpPr>
          <p:cNvPr id="36" name="Text 34"/>
          <p:cNvSpPr/>
          <p:nvPr/>
        </p:nvSpPr>
        <p:spPr>
          <a:xfrm>
            <a:off x="6419088" y="4370832"/>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7086600" y="4233672"/>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Design Language</a:t>
            </a:r>
            <a:endParaRPr lang="en-US" sz="1500" dirty="0"/>
          </a:p>
        </p:txBody>
      </p:sp>
      <p:sp>
        <p:nvSpPr>
          <p:cNvPr id="38" name="Text 36"/>
          <p:cNvSpPr/>
          <p:nvPr/>
        </p:nvSpPr>
        <p:spPr>
          <a:xfrm>
            <a:off x="7086600" y="4599432"/>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The purple &amp; green visual identity</a:t>
            </a:r>
            <a:endParaRPr lang="en-US" sz="1150" dirty="0"/>
          </a:p>
        </p:txBody>
      </p:sp>
      <p:sp>
        <p:nvSpPr>
          <p:cNvPr id="39" name="Shape 37"/>
          <p:cNvSpPr/>
          <p:nvPr/>
        </p:nvSpPr>
        <p:spPr>
          <a:xfrm>
            <a:off x="6217920" y="5330952"/>
            <a:ext cx="5349240" cy="1078992"/>
          </a:xfrm>
          <a:prstGeom prst="roundRect">
            <a:avLst>
              <a:gd name="adj" fmla="val 678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40" name="Shape 38"/>
          <p:cNvSpPr/>
          <p:nvPr/>
        </p:nvSpPr>
        <p:spPr>
          <a:xfrm>
            <a:off x="6419088" y="5614416"/>
            <a:ext cx="512064" cy="512064"/>
          </a:xfrm>
          <a:prstGeom prst="ellipse">
            <a:avLst/>
          </a:prstGeom>
          <a:solidFill>
            <a:srgbClr val="10B981"/>
          </a:solidFill>
          <a:ln/>
        </p:spPr>
      </p:sp>
      <p:sp>
        <p:nvSpPr>
          <p:cNvPr id="41" name="Text 39"/>
          <p:cNvSpPr/>
          <p:nvPr/>
        </p:nvSpPr>
        <p:spPr>
          <a:xfrm>
            <a:off x="6419088" y="5614416"/>
            <a:ext cx="512064" cy="512064"/>
          </a:xfrm>
          <a:prstGeom prst="rect">
            <a:avLst/>
          </a:prstGeom>
          <a:noFill/>
          <a:ln/>
        </p:spPr>
        <p:txBody>
          <a:bodyPr wrap="square" lIns="0" tIns="0" rIns="0" bIns="0" rtlCol="0" anchor="ctr"/>
          <a:lstStyle/>
          <a:p>
            <a:pPr marL="0" indent="0" algn="ctr">
              <a:buNone/>
            </a:pPr>
            <a:r>
              <a:rPr lang="en-US" sz="1800" b="1" dirty="0">
                <a:solidFill>
                  <a:srgbClr val="F3F4F6"/>
                </a:solidFill>
                <a:latin typeface="Calibri" pitchFamily="34" charset="0"/>
                <a:ea typeface="Calibri" pitchFamily="34" charset="-122"/>
                <a:cs typeface="Calibri" pitchFamily="34" charset="-120"/>
              </a:rPr>
              <a:t>8</a:t>
            </a:r>
            <a:endParaRPr lang="en-US" sz="1800" dirty="0"/>
          </a:p>
        </p:txBody>
      </p:sp>
      <p:sp>
        <p:nvSpPr>
          <p:cNvPr id="42" name="Text 40"/>
          <p:cNvSpPr/>
          <p:nvPr/>
        </p:nvSpPr>
        <p:spPr>
          <a:xfrm>
            <a:off x="7086600" y="5477256"/>
            <a:ext cx="4343400" cy="365760"/>
          </a:xfrm>
          <a:prstGeom prst="rect">
            <a:avLst/>
          </a:prstGeom>
          <a:noFill/>
          <a:ln/>
        </p:spPr>
        <p:txBody>
          <a:bodyPr wrap="square" lIns="0" tIns="0" rIns="0" bIns="0" rtlCol="0" anchor="ctr"/>
          <a:lstStyle/>
          <a:p>
            <a:pPr marL="0" indent="0">
              <a:buNone/>
            </a:pPr>
            <a:r>
              <a:rPr lang="en-US" sz="1500" b="1" dirty="0">
                <a:solidFill>
                  <a:srgbClr val="F3F4F6"/>
                </a:solidFill>
                <a:latin typeface="Calibri" pitchFamily="34" charset="0"/>
                <a:ea typeface="Calibri" pitchFamily="34" charset="-122"/>
                <a:cs typeface="Calibri" pitchFamily="34" charset="-120"/>
              </a:rPr>
              <a:t>Conclusion &amp; Roadmap</a:t>
            </a:r>
            <a:endParaRPr lang="en-US" sz="1500" dirty="0"/>
          </a:p>
        </p:txBody>
      </p:sp>
      <p:sp>
        <p:nvSpPr>
          <p:cNvPr id="43" name="Text 41"/>
          <p:cNvSpPr/>
          <p:nvPr/>
        </p:nvSpPr>
        <p:spPr>
          <a:xfrm>
            <a:off x="7086600" y="5843016"/>
            <a:ext cx="4297680" cy="457200"/>
          </a:xfrm>
          <a:prstGeom prst="rect">
            <a:avLst/>
          </a:prstGeom>
          <a:noFill/>
          <a:ln/>
        </p:spPr>
        <p:txBody>
          <a:bodyPr wrap="square" lIns="0" tIns="0" rIns="0" bIns="0" rtlCol="0" anchor="ctr"/>
          <a:lstStyle/>
          <a:p>
            <a:pPr marL="0" indent="0">
              <a:buNone/>
            </a:pPr>
            <a:r>
              <a:rPr lang="en-US" sz="1150" dirty="0">
                <a:solidFill>
                  <a:srgbClr val="9CA3AF"/>
                </a:solidFill>
                <a:latin typeface="Calibri" pitchFamily="34" charset="0"/>
                <a:ea typeface="Calibri" pitchFamily="34" charset="-122"/>
                <a:cs typeface="Calibri" pitchFamily="34" charset="-120"/>
              </a:rPr>
              <a:t>Recap and future enhancements</a:t>
            </a:r>
            <a:endParaRPr lang="en-US" sz="1150" dirty="0"/>
          </a:p>
        </p:txBody>
      </p:sp>
      <p:sp>
        <p:nvSpPr>
          <p:cNvPr id="44" name="Text 42"/>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45" name="Text 43"/>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What This System Does</a:t>
            </a:r>
            <a:endParaRPr lang="en-US" sz="3000" dirty="0"/>
          </a:p>
        </p:txBody>
      </p:sp>
      <p:sp>
        <p:nvSpPr>
          <p:cNvPr id="4" name="Text 2"/>
          <p:cNvSpPr/>
          <p:nvPr/>
        </p:nvSpPr>
        <p:spPr>
          <a:xfrm>
            <a:off x="548640" y="1508760"/>
            <a:ext cx="11094415" cy="914400"/>
          </a:xfrm>
          <a:prstGeom prst="rect">
            <a:avLst/>
          </a:prstGeom>
          <a:noFill/>
          <a:ln/>
        </p:spPr>
        <p:txBody>
          <a:bodyPr wrap="square" lIns="0" tIns="0" rIns="0" bIns="0" rtlCol="0" anchor="ctr"/>
          <a:lstStyle/>
          <a:p>
            <a:pPr marL="0" indent="0">
              <a:lnSpc>
                <a:spcPct val="125000"/>
              </a:lnSpc>
              <a:buNone/>
            </a:pPr>
            <a:r>
              <a:rPr lang="en-US" sz="1450" dirty="0">
                <a:solidFill>
                  <a:srgbClr val="9CA3AF"/>
                </a:solidFill>
                <a:latin typeface="Calibri" pitchFamily="34" charset="0"/>
                <a:ea typeface="Calibri" pitchFamily="34" charset="-122"/>
                <a:cs typeface="Calibri" pitchFamily="34" charset="-120"/>
              </a:rPr>
              <a:t>The University Management System is a desktop application that centralizes academic record-keeping for a university — students, instructors, courses, enrollments, classroom scheduling, and reporting — in a single, role-based tool. It replaces scattered spreadsheets and manual paperwork with one consistent source of truth.</a:t>
            </a:r>
            <a:endParaRPr lang="en-US" sz="1450" dirty="0"/>
          </a:p>
        </p:txBody>
      </p:sp>
      <p:sp>
        <p:nvSpPr>
          <p:cNvPr id="5" name="Shape 3"/>
          <p:cNvSpPr/>
          <p:nvPr/>
        </p:nvSpPr>
        <p:spPr>
          <a:xfrm>
            <a:off x="548640" y="2697480"/>
            <a:ext cx="3520440" cy="3200400"/>
          </a:xfrm>
          <a:prstGeom prst="roundRect">
            <a:avLst>
              <a:gd name="adj" fmla="val 228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6" name="Shape 4"/>
          <p:cNvSpPr/>
          <p:nvPr/>
        </p:nvSpPr>
        <p:spPr>
          <a:xfrm>
            <a:off x="1783080" y="3040380"/>
            <a:ext cx="1051560" cy="1051560"/>
          </a:xfrm>
          <a:prstGeom prst="ellipse">
            <a:avLst/>
          </a:prstGeom>
          <a:solidFill>
            <a:srgbClr val="8B5CF6"/>
          </a:solidFill>
          <a:ln/>
        </p:spPr>
      </p:sp>
      <p:pic>
        <p:nvPicPr>
          <p:cNvPr id="7" name="Image 0" descr="/home/claude/work/build/icons/admin_white.png"/>
          <p:cNvPicPr>
            <a:picLocks noChangeAspect="1"/>
          </p:cNvPicPr>
          <p:nvPr/>
        </p:nvPicPr>
        <p:blipFill>
          <a:blip r:embed="rId3"/>
          <a:stretch>
            <a:fillRect/>
          </a:stretch>
        </p:blipFill>
        <p:spPr>
          <a:xfrm>
            <a:off x="2045970" y="3303270"/>
            <a:ext cx="525780" cy="525780"/>
          </a:xfrm>
          <a:prstGeom prst="rect">
            <a:avLst/>
          </a:prstGeom>
        </p:spPr>
      </p:pic>
      <p:sp>
        <p:nvSpPr>
          <p:cNvPr id="8" name="Text 5"/>
          <p:cNvSpPr/>
          <p:nvPr/>
        </p:nvSpPr>
        <p:spPr>
          <a:xfrm>
            <a:off x="777240" y="4251960"/>
            <a:ext cx="3063240" cy="411480"/>
          </a:xfrm>
          <a:prstGeom prst="rect">
            <a:avLst/>
          </a:prstGeom>
          <a:noFill/>
          <a:ln/>
        </p:spPr>
        <p:txBody>
          <a:bodyPr wrap="square" lIns="0" tIns="0" rIns="0" bIns="0" rtlCol="0" anchor="ctr"/>
          <a:lstStyle/>
          <a:p>
            <a:pPr marL="0" indent="0" algn="ctr">
              <a:buNone/>
            </a:pPr>
            <a:r>
              <a:rPr lang="en-US" sz="1700" b="1" dirty="0">
                <a:solidFill>
                  <a:srgbClr val="F3F4F6"/>
                </a:solidFill>
                <a:latin typeface="Calibri" pitchFamily="34" charset="0"/>
                <a:ea typeface="Calibri" pitchFamily="34" charset="-122"/>
                <a:cs typeface="Calibri" pitchFamily="34" charset="-120"/>
              </a:rPr>
              <a:t>Administrators</a:t>
            </a:r>
            <a:endParaRPr lang="en-US" sz="1700" dirty="0"/>
          </a:p>
        </p:txBody>
      </p:sp>
      <p:sp>
        <p:nvSpPr>
          <p:cNvPr id="9" name="Text 6"/>
          <p:cNvSpPr/>
          <p:nvPr/>
        </p:nvSpPr>
        <p:spPr>
          <a:xfrm>
            <a:off x="868680" y="4709160"/>
            <a:ext cx="2880360" cy="1051560"/>
          </a:xfrm>
          <a:prstGeom prst="rect">
            <a:avLst/>
          </a:prstGeom>
          <a:noFill/>
          <a:ln/>
        </p:spPr>
        <p:txBody>
          <a:bodyPr wrap="square" lIns="0" tIns="0" rIns="0" bIns="0" rtlCol="0" anchor="ctr"/>
          <a:lstStyle/>
          <a:p>
            <a:pPr marL="0" indent="0" algn="ctr">
              <a:lnSpc>
                <a:spcPct val="120000"/>
              </a:lnSpc>
              <a:buNone/>
            </a:pPr>
            <a:r>
              <a:rPr lang="en-US" sz="1200" dirty="0">
                <a:solidFill>
                  <a:srgbClr val="9CA3AF"/>
                </a:solidFill>
                <a:latin typeface="Calibri" pitchFamily="34" charset="0"/>
                <a:ea typeface="Calibri" pitchFamily="34" charset="-122"/>
                <a:cs typeface="Calibri" pitchFamily="34" charset="-120"/>
              </a:rPr>
              <a:t>Manage students, instructors, departments, courses, enrollment, scheduling, and reports from one dashboard.</a:t>
            </a:r>
            <a:endParaRPr lang="en-US" sz="1200" dirty="0"/>
          </a:p>
        </p:txBody>
      </p:sp>
      <p:sp>
        <p:nvSpPr>
          <p:cNvPr id="10" name="Shape 7"/>
          <p:cNvSpPr/>
          <p:nvPr/>
        </p:nvSpPr>
        <p:spPr>
          <a:xfrm>
            <a:off x="4343400" y="2697480"/>
            <a:ext cx="3520440" cy="3200400"/>
          </a:xfrm>
          <a:prstGeom prst="roundRect">
            <a:avLst>
              <a:gd name="adj" fmla="val 228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1" name="Shape 8"/>
          <p:cNvSpPr/>
          <p:nvPr/>
        </p:nvSpPr>
        <p:spPr>
          <a:xfrm>
            <a:off x="5577840" y="3040380"/>
            <a:ext cx="1051560" cy="1051560"/>
          </a:xfrm>
          <a:prstGeom prst="ellipse">
            <a:avLst/>
          </a:prstGeom>
          <a:solidFill>
            <a:srgbClr val="10B981"/>
          </a:solidFill>
          <a:ln/>
        </p:spPr>
      </p:sp>
      <p:pic>
        <p:nvPicPr>
          <p:cNvPr id="12" name="Image 1" descr="/home/claude/work/build/icons/instructor_white.png"/>
          <p:cNvPicPr>
            <a:picLocks noChangeAspect="1"/>
          </p:cNvPicPr>
          <p:nvPr/>
        </p:nvPicPr>
        <p:blipFill>
          <a:blip r:embed="rId4"/>
          <a:stretch>
            <a:fillRect/>
          </a:stretch>
        </p:blipFill>
        <p:spPr>
          <a:xfrm>
            <a:off x="5840730" y="3303270"/>
            <a:ext cx="525780" cy="525780"/>
          </a:xfrm>
          <a:prstGeom prst="rect">
            <a:avLst/>
          </a:prstGeom>
        </p:spPr>
      </p:pic>
      <p:sp>
        <p:nvSpPr>
          <p:cNvPr id="13" name="Text 9"/>
          <p:cNvSpPr/>
          <p:nvPr/>
        </p:nvSpPr>
        <p:spPr>
          <a:xfrm>
            <a:off x="4572000" y="4251960"/>
            <a:ext cx="3063240" cy="411480"/>
          </a:xfrm>
          <a:prstGeom prst="rect">
            <a:avLst/>
          </a:prstGeom>
          <a:noFill/>
          <a:ln/>
        </p:spPr>
        <p:txBody>
          <a:bodyPr wrap="square" lIns="0" tIns="0" rIns="0" bIns="0" rtlCol="0" anchor="ctr"/>
          <a:lstStyle/>
          <a:p>
            <a:pPr marL="0" indent="0" algn="ctr">
              <a:buNone/>
            </a:pPr>
            <a:r>
              <a:rPr lang="en-US" sz="1700" b="1" dirty="0">
                <a:solidFill>
                  <a:srgbClr val="F3F4F6"/>
                </a:solidFill>
                <a:latin typeface="Calibri" pitchFamily="34" charset="0"/>
                <a:ea typeface="Calibri" pitchFamily="34" charset="-122"/>
                <a:cs typeface="Calibri" pitchFamily="34" charset="-120"/>
              </a:rPr>
              <a:t>Instructors</a:t>
            </a:r>
            <a:endParaRPr lang="en-US" sz="1700" dirty="0"/>
          </a:p>
        </p:txBody>
      </p:sp>
      <p:sp>
        <p:nvSpPr>
          <p:cNvPr id="14" name="Text 10"/>
          <p:cNvSpPr/>
          <p:nvPr/>
        </p:nvSpPr>
        <p:spPr>
          <a:xfrm>
            <a:off x="4663440" y="4709160"/>
            <a:ext cx="2880360" cy="1051560"/>
          </a:xfrm>
          <a:prstGeom prst="rect">
            <a:avLst/>
          </a:prstGeom>
          <a:noFill/>
          <a:ln/>
        </p:spPr>
        <p:txBody>
          <a:bodyPr wrap="square" lIns="0" tIns="0" rIns="0" bIns="0" rtlCol="0" anchor="ctr"/>
          <a:lstStyle/>
          <a:p>
            <a:pPr marL="0" indent="0" algn="ctr">
              <a:lnSpc>
                <a:spcPct val="120000"/>
              </a:lnSpc>
              <a:buNone/>
            </a:pPr>
            <a:r>
              <a:rPr lang="en-US" sz="1200" dirty="0">
                <a:solidFill>
                  <a:srgbClr val="9CA3AF"/>
                </a:solidFill>
                <a:latin typeface="Calibri" pitchFamily="34" charset="0"/>
                <a:ea typeface="Calibri" pitchFamily="34" charset="-122"/>
                <a:cs typeface="Calibri" pitchFamily="34" charset="-120"/>
              </a:rPr>
              <a:t>View teaching assignments and access the same academic records relevant to their sections.</a:t>
            </a:r>
            <a:endParaRPr lang="en-US" sz="1200" dirty="0"/>
          </a:p>
        </p:txBody>
      </p:sp>
      <p:sp>
        <p:nvSpPr>
          <p:cNvPr id="15" name="Shape 11"/>
          <p:cNvSpPr/>
          <p:nvPr/>
        </p:nvSpPr>
        <p:spPr>
          <a:xfrm>
            <a:off x="8138160" y="2697480"/>
            <a:ext cx="3520440" cy="3200400"/>
          </a:xfrm>
          <a:prstGeom prst="roundRect">
            <a:avLst>
              <a:gd name="adj" fmla="val 228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6" name="Shape 12"/>
          <p:cNvSpPr/>
          <p:nvPr/>
        </p:nvSpPr>
        <p:spPr>
          <a:xfrm>
            <a:off x="9372600" y="3040380"/>
            <a:ext cx="1051560" cy="1051560"/>
          </a:xfrm>
          <a:prstGeom prst="ellipse">
            <a:avLst/>
          </a:prstGeom>
          <a:solidFill>
            <a:srgbClr val="8B5CF6"/>
          </a:solidFill>
          <a:ln/>
        </p:spPr>
      </p:sp>
      <p:pic>
        <p:nvPicPr>
          <p:cNvPr id="17" name="Image 2" descr="/home/claude/work/build/icons/student_white.png"/>
          <p:cNvPicPr>
            <a:picLocks noChangeAspect="1"/>
          </p:cNvPicPr>
          <p:nvPr/>
        </p:nvPicPr>
        <p:blipFill>
          <a:blip r:embed="rId5"/>
          <a:stretch>
            <a:fillRect/>
          </a:stretch>
        </p:blipFill>
        <p:spPr>
          <a:xfrm>
            <a:off x="9635490" y="3303270"/>
            <a:ext cx="525780" cy="525780"/>
          </a:xfrm>
          <a:prstGeom prst="rect">
            <a:avLst/>
          </a:prstGeom>
        </p:spPr>
      </p:pic>
      <p:sp>
        <p:nvSpPr>
          <p:cNvPr id="18" name="Text 13"/>
          <p:cNvSpPr/>
          <p:nvPr/>
        </p:nvSpPr>
        <p:spPr>
          <a:xfrm>
            <a:off x="8366760" y="4251960"/>
            <a:ext cx="3063240" cy="411480"/>
          </a:xfrm>
          <a:prstGeom prst="rect">
            <a:avLst/>
          </a:prstGeom>
          <a:noFill/>
          <a:ln/>
        </p:spPr>
        <p:txBody>
          <a:bodyPr wrap="square" lIns="0" tIns="0" rIns="0" bIns="0" rtlCol="0" anchor="ctr"/>
          <a:lstStyle/>
          <a:p>
            <a:pPr marL="0" indent="0" algn="ctr">
              <a:buNone/>
            </a:pPr>
            <a:r>
              <a:rPr lang="en-US" sz="1700" b="1" dirty="0">
                <a:solidFill>
                  <a:srgbClr val="F3F4F6"/>
                </a:solidFill>
                <a:latin typeface="Calibri" pitchFamily="34" charset="0"/>
                <a:ea typeface="Calibri" pitchFamily="34" charset="-122"/>
                <a:cs typeface="Calibri" pitchFamily="34" charset="-120"/>
              </a:rPr>
              <a:t>Students</a:t>
            </a:r>
            <a:endParaRPr lang="en-US" sz="1700" dirty="0"/>
          </a:p>
        </p:txBody>
      </p:sp>
      <p:sp>
        <p:nvSpPr>
          <p:cNvPr id="19" name="Text 14"/>
          <p:cNvSpPr/>
          <p:nvPr/>
        </p:nvSpPr>
        <p:spPr>
          <a:xfrm>
            <a:off x="8458200" y="4709160"/>
            <a:ext cx="2880360" cy="1051560"/>
          </a:xfrm>
          <a:prstGeom prst="rect">
            <a:avLst/>
          </a:prstGeom>
          <a:noFill/>
          <a:ln/>
        </p:spPr>
        <p:txBody>
          <a:bodyPr wrap="square" lIns="0" tIns="0" rIns="0" bIns="0" rtlCol="0" anchor="ctr"/>
          <a:lstStyle/>
          <a:p>
            <a:pPr marL="0" indent="0" algn="ctr">
              <a:lnSpc>
                <a:spcPct val="120000"/>
              </a:lnSpc>
              <a:buNone/>
            </a:pPr>
            <a:r>
              <a:rPr lang="en-US" sz="1200" dirty="0">
                <a:solidFill>
                  <a:srgbClr val="9CA3AF"/>
                </a:solidFill>
                <a:latin typeface="Calibri" pitchFamily="34" charset="0"/>
                <a:ea typeface="Calibri" pitchFamily="34" charset="-122"/>
                <a:cs typeface="Calibri" pitchFamily="34" charset="-120"/>
              </a:rPr>
              <a:t>Log in to view personal academic information, such as enrollment and progress, in one place.</a:t>
            </a:r>
            <a:endParaRPr lang="en-US" sz="1200" dirty="0"/>
          </a:p>
        </p:txBody>
      </p:sp>
      <p:sp>
        <p:nvSpPr>
          <p:cNvPr id="20" name="Text 15"/>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1" name="Text 16"/>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UNDER THE HOOD</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Technology Stack</a:t>
            </a:r>
            <a:endParaRPr lang="en-US" sz="3000" dirty="0"/>
          </a:p>
        </p:txBody>
      </p:sp>
      <p:sp>
        <p:nvSpPr>
          <p:cNvPr id="4" name="Shape 2"/>
          <p:cNvSpPr/>
          <p:nvPr/>
        </p:nvSpPr>
        <p:spPr>
          <a:xfrm>
            <a:off x="548640" y="1691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5" name="Shape 3"/>
          <p:cNvSpPr/>
          <p:nvPr/>
        </p:nvSpPr>
        <p:spPr>
          <a:xfrm>
            <a:off x="726948" y="1869948"/>
            <a:ext cx="777240" cy="777240"/>
          </a:xfrm>
          <a:prstGeom prst="ellipse">
            <a:avLst/>
          </a:prstGeom>
          <a:solidFill>
            <a:srgbClr val="8B5CF6"/>
          </a:solidFill>
          <a:ln/>
        </p:spPr>
      </p:sp>
      <p:pic>
        <p:nvPicPr>
          <p:cNvPr id="6" name="Image 0" descr="/home/claude/work/build/icons/code_white.png"/>
          <p:cNvPicPr>
            <a:picLocks noChangeAspect="1"/>
          </p:cNvPicPr>
          <p:nvPr/>
        </p:nvPicPr>
        <p:blipFill>
          <a:blip r:embed="rId3"/>
          <a:stretch>
            <a:fillRect/>
          </a:stretch>
        </p:blipFill>
        <p:spPr>
          <a:xfrm>
            <a:off x="913486" y="2056486"/>
            <a:ext cx="404165" cy="404165"/>
          </a:xfrm>
          <a:prstGeom prst="rect">
            <a:avLst/>
          </a:prstGeom>
        </p:spPr>
      </p:pic>
      <p:sp>
        <p:nvSpPr>
          <p:cNvPr id="7" name="Text 4"/>
          <p:cNvSpPr/>
          <p:nvPr/>
        </p:nvSpPr>
        <p:spPr>
          <a:xfrm>
            <a:off x="777240" y="2834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C# / .NET Framework 4.7.2</a:t>
            </a:r>
            <a:endParaRPr lang="en-US" sz="1350" dirty="0"/>
          </a:p>
        </p:txBody>
      </p:sp>
      <p:sp>
        <p:nvSpPr>
          <p:cNvPr id="8" name="Text 5"/>
          <p:cNvSpPr/>
          <p:nvPr/>
        </p:nvSpPr>
        <p:spPr>
          <a:xfrm>
            <a:off x="777240" y="3246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Core application language and runtime</a:t>
            </a:r>
            <a:endParaRPr lang="en-US" sz="1050" dirty="0"/>
          </a:p>
        </p:txBody>
      </p:sp>
      <p:sp>
        <p:nvSpPr>
          <p:cNvPr id="9" name="Shape 6"/>
          <p:cNvSpPr/>
          <p:nvPr/>
        </p:nvSpPr>
        <p:spPr>
          <a:xfrm>
            <a:off x="4407408" y="1691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0" name="Shape 7"/>
          <p:cNvSpPr/>
          <p:nvPr/>
        </p:nvSpPr>
        <p:spPr>
          <a:xfrm>
            <a:off x="4585716" y="1869948"/>
            <a:ext cx="777240" cy="777240"/>
          </a:xfrm>
          <a:prstGeom prst="ellipse">
            <a:avLst/>
          </a:prstGeom>
          <a:solidFill>
            <a:srgbClr val="10B981"/>
          </a:solidFill>
          <a:ln/>
        </p:spPr>
      </p:sp>
      <p:pic>
        <p:nvPicPr>
          <p:cNvPr id="11" name="Image 1" descr="/home/claude/work/build/icons/desktop_white.png"/>
          <p:cNvPicPr>
            <a:picLocks noChangeAspect="1"/>
          </p:cNvPicPr>
          <p:nvPr/>
        </p:nvPicPr>
        <p:blipFill>
          <a:blip r:embed="rId4"/>
          <a:stretch>
            <a:fillRect/>
          </a:stretch>
        </p:blipFill>
        <p:spPr>
          <a:xfrm>
            <a:off x="4772254" y="2056486"/>
            <a:ext cx="404165" cy="404165"/>
          </a:xfrm>
          <a:prstGeom prst="rect">
            <a:avLst/>
          </a:prstGeom>
        </p:spPr>
      </p:pic>
      <p:sp>
        <p:nvSpPr>
          <p:cNvPr id="12" name="Text 8"/>
          <p:cNvSpPr/>
          <p:nvPr/>
        </p:nvSpPr>
        <p:spPr>
          <a:xfrm>
            <a:off x="4636008" y="2834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Windows Forms</a:t>
            </a:r>
            <a:endParaRPr lang="en-US" sz="1350" dirty="0"/>
          </a:p>
        </p:txBody>
      </p:sp>
      <p:sp>
        <p:nvSpPr>
          <p:cNvPr id="13" name="Text 9"/>
          <p:cNvSpPr/>
          <p:nvPr/>
        </p:nvSpPr>
        <p:spPr>
          <a:xfrm>
            <a:off x="4636008" y="3246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Native desktop UI for every screen and dialog</a:t>
            </a:r>
            <a:endParaRPr lang="en-US" sz="1050" dirty="0"/>
          </a:p>
        </p:txBody>
      </p:sp>
      <p:sp>
        <p:nvSpPr>
          <p:cNvPr id="14" name="Shape 10"/>
          <p:cNvSpPr/>
          <p:nvPr/>
        </p:nvSpPr>
        <p:spPr>
          <a:xfrm>
            <a:off x="8266176" y="1691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5" name="Shape 11"/>
          <p:cNvSpPr/>
          <p:nvPr/>
        </p:nvSpPr>
        <p:spPr>
          <a:xfrm>
            <a:off x="8444484" y="1869948"/>
            <a:ext cx="777240" cy="777240"/>
          </a:xfrm>
          <a:prstGeom prst="ellipse">
            <a:avLst/>
          </a:prstGeom>
          <a:solidFill>
            <a:srgbClr val="8B5CF6"/>
          </a:solidFill>
          <a:ln/>
        </p:spPr>
      </p:sp>
      <p:pic>
        <p:nvPicPr>
          <p:cNvPr id="16" name="Image 2" descr="/home/claude/work/build/icons/cogs_white.png"/>
          <p:cNvPicPr>
            <a:picLocks noChangeAspect="1"/>
          </p:cNvPicPr>
          <p:nvPr/>
        </p:nvPicPr>
        <p:blipFill>
          <a:blip r:embed="rId5"/>
          <a:stretch>
            <a:fillRect/>
          </a:stretch>
        </p:blipFill>
        <p:spPr>
          <a:xfrm>
            <a:off x="8631022" y="2056486"/>
            <a:ext cx="404165" cy="404165"/>
          </a:xfrm>
          <a:prstGeom prst="rect">
            <a:avLst/>
          </a:prstGeom>
        </p:spPr>
      </p:pic>
      <p:sp>
        <p:nvSpPr>
          <p:cNvPr id="17" name="Text 12"/>
          <p:cNvSpPr/>
          <p:nvPr/>
        </p:nvSpPr>
        <p:spPr>
          <a:xfrm>
            <a:off x="8494776" y="2834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Entity Framework 5</a:t>
            </a:r>
            <a:endParaRPr lang="en-US" sz="1350" dirty="0"/>
          </a:p>
        </p:txBody>
      </p:sp>
      <p:sp>
        <p:nvSpPr>
          <p:cNvPr id="18" name="Text 13"/>
          <p:cNvSpPr/>
          <p:nvPr/>
        </p:nvSpPr>
        <p:spPr>
          <a:xfrm>
            <a:off x="8494776" y="3246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Object-relational mapper for typed data access</a:t>
            </a:r>
            <a:endParaRPr lang="en-US" sz="1050" dirty="0"/>
          </a:p>
        </p:txBody>
      </p:sp>
      <p:sp>
        <p:nvSpPr>
          <p:cNvPr id="19" name="Shape 14"/>
          <p:cNvSpPr/>
          <p:nvPr/>
        </p:nvSpPr>
        <p:spPr>
          <a:xfrm>
            <a:off x="548640" y="3977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0" name="Shape 15"/>
          <p:cNvSpPr/>
          <p:nvPr/>
        </p:nvSpPr>
        <p:spPr>
          <a:xfrm>
            <a:off x="726948" y="4155948"/>
            <a:ext cx="777240" cy="777240"/>
          </a:xfrm>
          <a:prstGeom prst="ellipse">
            <a:avLst/>
          </a:prstGeom>
          <a:solidFill>
            <a:srgbClr val="10B981"/>
          </a:solidFill>
          <a:ln/>
        </p:spPr>
      </p:sp>
      <p:pic>
        <p:nvPicPr>
          <p:cNvPr id="21" name="Image 3" descr="/home/claude/work/build/icons/database_white.png"/>
          <p:cNvPicPr>
            <a:picLocks noChangeAspect="1"/>
          </p:cNvPicPr>
          <p:nvPr/>
        </p:nvPicPr>
        <p:blipFill>
          <a:blip r:embed="rId6"/>
          <a:stretch>
            <a:fillRect/>
          </a:stretch>
        </p:blipFill>
        <p:spPr>
          <a:xfrm>
            <a:off x="913486" y="4342486"/>
            <a:ext cx="404165" cy="404165"/>
          </a:xfrm>
          <a:prstGeom prst="rect">
            <a:avLst/>
          </a:prstGeom>
        </p:spPr>
      </p:pic>
      <p:sp>
        <p:nvSpPr>
          <p:cNvPr id="22" name="Text 16"/>
          <p:cNvSpPr/>
          <p:nvPr/>
        </p:nvSpPr>
        <p:spPr>
          <a:xfrm>
            <a:off x="777240" y="5120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SQL Server (SQLEXPRESS)</a:t>
            </a:r>
            <a:endParaRPr lang="en-US" sz="1350" dirty="0"/>
          </a:p>
        </p:txBody>
      </p:sp>
      <p:sp>
        <p:nvSpPr>
          <p:cNvPr id="23" name="Text 17"/>
          <p:cNvSpPr/>
          <p:nvPr/>
        </p:nvSpPr>
        <p:spPr>
          <a:xfrm>
            <a:off x="777240" y="5532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Relational database storing all academic records</a:t>
            </a:r>
            <a:endParaRPr lang="en-US" sz="1050" dirty="0"/>
          </a:p>
        </p:txBody>
      </p:sp>
      <p:sp>
        <p:nvSpPr>
          <p:cNvPr id="24" name="Shape 18"/>
          <p:cNvSpPr/>
          <p:nvPr/>
        </p:nvSpPr>
        <p:spPr>
          <a:xfrm>
            <a:off x="4407408" y="3977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5" name="Shape 19"/>
          <p:cNvSpPr/>
          <p:nvPr/>
        </p:nvSpPr>
        <p:spPr>
          <a:xfrm>
            <a:off x="4585716" y="4155948"/>
            <a:ext cx="777240" cy="777240"/>
          </a:xfrm>
          <a:prstGeom prst="ellipse">
            <a:avLst/>
          </a:prstGeom>
          <a:solidFill>
            <a:srgbClr val="8B5CF6"/>
          </a:solidFill>
          <a:ln/>
        </p:spPr>
      </p:sp>
      <p:pic>
        <p:nvPicPr>
          <p:cNvPr id="26" name="Image 4" descr="/home/claude/work/build/icons/chart_white.png"/>
          <p:cNvPicPr>
            <a:picLocks noChangeAspect="1"/>
          </p:cNvPicPr>
          <p:nvPr/>
        </p:nvPicPr>
        <p:blipFill>
          <a:blip r:embed="rId7"/>
          <a:stretch>
            <a:fillRect/>
          </a:stretch>
        </p:blipFill>
        <p:spPr>
          <a:xfrm>
            <a:off x="4772254" y="4342486"/>
            <a:ext cx="404165" cy="404165"/>
          </a:xfrm>
          <a:prstGeom prst="rect">
            <a:avLst/>
          </a:prstGeom>
        </p:spPr>
      </p:pic>
      <p:sp>
        <p:nvSpPr>
          <p:cNvPr id="27" name="Text 20"/>
          <p:cNvSpPr/>
          <p:nvPr/>
        </p:nvSpPr>
        <p:spPr>
          <a:xfrm>
            <a:off x="4636008" y="5120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Chart Controls (ADO.NET)</a:t>
            </a:r>
            <a:endParaRPr lang="en-US" sz="1350" dirty="0"/>
          </a:p>
        </p:txBody>
      </p:sp>
      <p:sp>
        <p:nvSpPr>
          <p:cNvPr id="28" name="Text 21"/>
          <p:cNvSpPr/>
          <p:nvPr/>
        </p:nvSpPr>
        <p:spPr>
          <a:xfrm>
            <a:off x="4636008" y="5532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Pie &amp; column charts for the Reports module</a:t>
            </a:r>
            <a:endParaRPr lang="en-US" sz="1050" dirty="0"/>
          </a:p>
        </p:txBody>
      </p:sp>
      <p:sp>
        <p:nvSpPr>
          <p:cNvPr id="29" name="Shape 22"/>
          <p:cNvSpPr/>
          <p:nvPr/>
        </p:nvSpPr>
        <p:spPr>
          <a:xfrm>
            <a:off x="8266176" y="3977640"/>
            <a:ext cx="3611880" cy="2011680"/>
          </a:xfrm>
          <a:prstGeom prst="roundRect">
            <a:avLst>
              <a:gd name="adj" fmla="val 363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30" name="Shape 23"/>
          <p:cNvSpPr/>
          <p:nvPr/>
        </p:nvSpPr>
        <p:spPr>
          <a:xfrm>
            <a:off x="8444484" y="4155948"/>
            <a:ext cx="777240" cy="777240"/>
          </a:xfrm>
          <a:prstGeom prst="ellipse">
            <a:avLst/>
          </a:prstGeom>
          <a:solidFill>
            <a:srgbClr val="10B981"/>
          </a:solidFill>
          <a:ln/>
        </p:spPr>
      </p:sp>
      <p:pic>
        <p:nvPicPr>
          <p:cNvPr id="31" name="Image 5" descr="/home/claude/work/build/icons/server_white.png"/>
          <p:cNvPicPr>
            <a:picLocks noChangeAspect="1"/>
          </p:cNvPicPr>
          <p:nvPr/>
        </p:nvPicPr>
        <p:blipFill>
          <a:blip r:embed="rId8"/>
          <a:stretch>
            <a:fillRect/>
          </a:stretch>
        </p:blipFill>
        <p:spPr>
          <a:xfrm>
            <a:off x="8631022" y="4342486"/>
            <a:ext cx="404165" cy="404165"/>
          </a:xfrm>
          <a:prstGeom prst="rect">
            <a:avLst/>
          </a:prstGeom>
        </p:spPr>
      </p:pic>
      <p:sp>
        <p:nvSpPr>
          <p:cNvPr id="32" name="Text 24"/>
          <p:cNvSpPr/>
          <p:nvPr/>
        </p:nvSpPr>
        <p:spPr>
          <a:xfrm>
            <a:off x="8494776" y="5120640"/>
            <a:ext cx="3154680" cy="457200"/>
          </a:xfrm>
          <a:prstGeom prst="rect">
            <a:avLst/>
          </a:prstGeom>
          <a:noFill/>
          <a:ln/>
        </p:spPr>
        <p:txBody>
          <a:bodyPr wrap="square" lIns="0" tIns="0" rIns="0" bIns="0" rtlCol="0" anchor="ctr"/>
          <a:lstStyle/>
          <a:p>
            <a:pPr marL="0" indent="0">
              <a:buNone/>
            </a:pPr>
            <a:r>
              <a:rPr lang="en-US" sz="1350" b="1" dirty="0">
                <a:solidFill>
                  <a:srgbClr val="F3F4F6"/>
                </a:solidFill>
                <a:latin typeface="Calibri" pitchFamily="34" charset="0"/>
                <a:ea typeface="Calibri" pitchFamily="34" charset="-122"/>
                <a:cs typeface="Calibri" pitchFamily="34" charset="-120"/>
              </a:rPr>
              <a:t>ADO.NET / SqlClient</a:t>
            </a:r>
            <a:endParaRPr lang="en-US" sz="1350" dirty="0"/>
          </a:p>
        </p:txBody>
      </p:sp>
      <p:sp>
        <p:nvSpPr>
          <p:cNvPr id="33" name="Text 25"/>
          <p:cNvSpPr/>
          <p:nvPr/>
        </p:nvSpPr>
        <p:spPr>
          <a:xfrm>
            <a:off x="8494776" y="5532120"/>
            <a:ext cx="3154680" cy="411480"/>
          </a:xfrm>
          <a:prstGeom prst="rect">
            <a:avLst/>
          </a:prstGeom>
          <a:noFill/>
          <a:ln/>
        </p:spPr>
        <p:txBody>
          <a:bodyPr wrap="square" lIns="0" tIns="0" rIns="0" bIns="0" rtlCol="0" anchor="ctr"/>
          <a:lstStyle/>
          <a:p>
            <a:pPr marL="0" indent="0">
              <a:buNone/>
            </a:pPr>
            <a:r>
              <a:rPr lang="en-US" sz="1050" dirty="0">
                <a:solidFill>
                  <a:srgbClr val="9CA3AF"/>
                </a:solidFill>
                <a:latin typeface="Calibri" pitchFamily="34" charset="0"/>
                <a:ea typeface="Calibri" pitchFamily="34" charset="-122"/>
                <a:cs typeface="Calibri" pitchFamily="34" charset="-120"/>
              </a:rPr>
              <a:t>Direct SQL queries for scheduling &amp; reporting</a:t>
            </a:r>
            <a:endParaRPr lang="en-US" sz="1050" dirty="0"/>
          </a:p>
        </p:txBody>
      </p:sp>
      <p:sp>
        <p:nvSpPr>
          <p:cNvPr id="34" name="Text 26"/>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35" name="Text 27"/>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HOW IT FITS TOGETHER</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System Architecture</a:t>
            </a:r>
            <a:endParaRPr lang="en-US" sz="3000" dirty="0"/>
          </a:p>
        </p:txBody>
      </p:sp>
      <p:sp>
        <p:nvSpPr>
          <p:cNvPr id="4" name="Shape 2"/>
          <p:cNvSpPr/>
          <p:nvPr/>
        </p:nvSpPr>
        <p:spPr>
          <a:xfrm>
            <a:off x="1371600" y="1600200"/>
            <a:ext cx="9448495" cy="1234440"/>
          </a:xfrm>
          <a:prstGeom prst="roundRect">
            <a:avLst>
              <a:gd name="adj" fmla="val 592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5" name="Shape 3"/>
          <p:cNvSpPr/>
          <p:nvPr/>
        </p:nvSpPr>
        <p:spPr>
          <a:xfrm>
            <a:off x="1668780" y="1783080"/>
            <a:ext cx="868680" cy="868680"/>
          </a:xfrm>
          <a:prstGeom prst="ellipse">
            <a:avLst/>
          </a:prstGeom>
          <a:solidFill>
            <a:srgbClr val="8B5CF6"/>
          </a:solidFill>
          <a:ln/>
        </p:spPr>
      </p:sp>
      <p:pic>
        <p:nvPicPr>
          <p:cNvPr id="6" name="Image 0" descr="/home/claude/work/build/icons/desktop_white.png"/>
          <p:cNvPicPr>
            <a:picLocks noChangeAspect="1"/>
          </p:cNvPicPr>
          <p:nvPr/>
        </p:nvPicPr>
        <p:blipFill>
          <a:blip r:embed="rId3"/>
          <a:stretch>
            <a:fillRect/>
          </a:stretch>
        </p:blipFill>
        <p:spPr>
          <a:xfrm>
            <a:off x="1877263" y="1991563"/>
            <a:ext cx="451714" cy="451714"/>
          </a:xfrm>
          <a:prstGeom prst="rect">
            <a:avLst/>
          </a:prstGeom>
        </p:spPr>
      </p:pic>
      <p:sp>
        <p:nvSpPr>
          <p:cNvPr id="7" name="Text 4"/>
          <p:cNvSpPr/>
          <p:nvPr/>
        </p:nvSpPr>
        <p:spPr>
          <a:xfrm>
            <a:off x="2743200" y="1764792"/>
            <a:ext cx="7802575" cy="320040"/>
          </a:xfrm>
          <a:prstGeom prst="rect">
            <a:avLst/>
          </a:prstGeom>
          <a:noFill/>
          <a:ln/>
        </p:spPr>
        <p:txBody>
          <a:bodyPr wrap="square" lIns="0" tIns="0" rIns="0" bIns="0" rtlCol="0" anchor="ctr"/>
          <a:lstStyle/>
          <a:p>
            <a:pPr marL="0" indent="0">
              <a:buNone/>
            </a:pPr>
            <a:r>
              <a:rPr lang="en-US" sz="1450" b="1" kern="0" spc="100" dirty="0">
                <a:solidFill>
                  <a:srgbClr val="8B5CF6"/>
                </a:solidFill>
                <a:latin typeface="Calibri" pitchFamily="34" charset="0"/>
                <a:ea typeface="Calibri" pitchFamily="34" charset="-122"/>
                <a:cs typeface="Calibri" pitchFamily="34" charset="-120"/>
              </a:rPr>
              <a:t>PRESENTATION LAYER</a:t>
            </a:r>
            <a:endParaRPr lang="en-US" sz="1450" dirty="0"/>
          </a:p>
        </p:txBody>
      </p:sp>
      <p:sp>
        <p:nvSpPr>
          <p:cNvPr id="8" name="Text 5"/>
          <p:cNvSpPr/>
          <p:nvPr/>
        </p:nvSpPr>
        <p:spPr>
          <a:xfrm>
            <a:off x="2743200" y="2103120"/>
            <a:ext cx="7802575" cy="640080"/>
          </a:xfrm>
          <a:prstGeom prst="rect">
            <a:avLst/>
          </a:prstGeom>
          <a:noFill/>
          <a:ln/>
        </p:spPr>
        <p:txBody>
          <a:bodyPr wrap="square" lIns="0" tIns="0" rIns="0" bIns="0" rtlCol="0" anchor="ctr"/>
          <a:lstStyle/>
          <a:p>
            <a:pPr marL="0" indent="0">
              <a:lnSpc>
                <a:spcPct val="115000"/>
              </a:lnSpc>
              <a:buNone/>
            </a:pPr>
            <a:r>
              <a:rPr lang="en-US" sz="1150" dirty="0">
                <a:solidFill>
                  <a:srgbClr val="9CA3AF"/>
                </a:solidFill>
                <a:latin typeface="Calibri" pitchFamily="34" charset="0"/>
                <a:ea typeface="Calibri" pitchFamily="34" charset="-122"/>
                <a:cs typeface="Calibri" pitchFamily="34" charset="-120"/>
              </a:rPr>
              <a:t>Windows Forms screens — Login, Admin Dashboard, Student / Instructor / Course / Department / Enrollment / Scheduling / Reports forms</a:t>
            </a:r>
            <a:endParaRPr lang="en-US" sz="1150" dirty="0"/>
          </a:p>
        </p:txBody>
      </p:sp>
      <p:sp>
        <p:nvSpPr>
          <p:cNvPr id="9" name="Shape 6"/>
          <p:cNvSpPr/>
          <p:nvPr/>
        </p:nvSpPr>
        <p:spPr>
          <a:xfrm>
            <a:off x="5922112" y="2912364"/>
            <a:ext cx="347472" cy="347472"/>
          </a:xfrm>
          <a:prstGeom prst="ellipse">
            <a:avLst/>
          </a:prstGeom>
          <a:solidFill>
            <a:srgbClr val="14101C"/>
          </a:solidFill>
          <a:ln/>
        </p:spPr>
      </p:sp>
      <p:pic>
        <p:nvPicPr>
          <p:cNvPr id="10" name="Image 1" descr="/home/claude/work/build/icons/arrow_gray.png"/>
          <p:cNvPicPr>
            <a:picLocks noChangeAspect="1"/>
          </p:cNvPicPr>
          <p:nvPr/>
        </p:nvPicPr>
        <p:blipFill>
          <a:blip r:embed="rId4"/>
          <a:stretch>
            <a:fillRect/>
          </a:stretch>
        </p:blipFill>
        <p:spPr>
          <a:xfrm>
            <a:off x="5930798" y="2921051"/>
            <a:ext cx="330098" cy="330098"/>
          </a:xfrm>
          <a:prstGeom prst="rect">
            <a:avLst/>
          </a:prstGeom>
        </p:spPr>
      </p:pic>
      <p:sp>
        <p:nvSpPr>
          <p:cNvPr id="11" name="Shape 7"/>
          <p:cNvSpPr/>
          <p:nvPr/>
        </p:nvSpPr>
        <p:spPr>
          <a:xfrm>
            <a:off x="1371600" y="3337560"/>
            <a:ext cx="9448495" cy="1234440"/>
          </a:xfrm>
          <a:prstGeom prst="roundRect">
            <a:avLst>
              <a:gd name="adj" fmla="val 592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2" name="Shape 8"/>
          <p:cNvSpPr/>
          <p:nvPr/>
        </p:nvSpPr>
        <p:spPr>
          <a:xfrm>
            <a:off x="1668780" y="3520440"/>
            <a:ext cx="868680" cy="868680"/>
          </a:xfrm>
          <a:prstGeom prst="ellipse">
            <a:avLst/>
          </a:prstGeom>
          <a:solidFill>
            <a:srgbClr val="10B981"/>
          </a:solidFill>
          <a:ln/>
        </p:spPr>
      </p:sp>
      <p:pic>
        <p:nvPicPr>
          <p:cNvPr id="13" name="Image 2" descr="/home/claude/work/build/icons/cogs_white.png"/>
          <p:cNvPicPr>
            <a:picLocks noChangeAspect="1"/>
          </p:cNvPicPr>
          <p:nvPr/>
        </p:nvPicPr>
        <p:blipFill>
          <a:blip r:embed="rId5"/>
          <a:stretch>
            <a:fillRect/>
          </a:stretch>
        </p:blipFill>
        <p:spPr>
          <a:xfrm>
            <a:off x="1877263" y="3728923"/>
            <a:ext cx="451714" cy="451714"/>
          </a:xfrm>
          <a:prstGeom prst="rect">
            <a:avLst/>
          </a:prstGeom>
        </p:spPr>
      </p:pic>
      <p:sp>
        <p:nvSpPr>
          <p:cNvPr id="14" name="Text 9"/>
          <p:cNvSpPr/>
          <p:nvPr/>
        </p:nvSpPr>
        <p:spPr>
          <a:xfrm>
            <a:off x="2743200" y="3502152"/>
            <a:ext cx="7802575" cy="320040"/>
          </a:xfrm>
          <a:prstGeom prst="rect">
            <a:avLst/>
          </a:prstGeom>
          <a:noFill/>
          <a:ln/>
        </p:spPr>
        <p:txBody>
          <a:bodyPr wrap="square" lIns="0" tIns="0" rIns="0" bIns="0" rtlCol="0" anchor="ctr"/>
          <a:lstStyle/>
          <a:p>
            <a:pPr marL="0" indent="0">
              <a:buNone/>
            </a:pPr>
            <a:r>
              <a:rPr lang="en-US" sz="1450" b="1" kern="0" spc="100" dirty="0">
                <a:solidFill>
                  <a:srgbClr val="10B981"/>
                </a:solidFill>
                <a:latin typeface="Calibri" pitchFamily="34" charset="0"/>
                <a:ea typeface="Calibri" pitchFamily="34" charset="-122"/>
                <a:cs typeface="Calibri" pitchFamily="34" charset="-120"/>
              </a:rPr>
              <a:t>DATA ACCESS LAYER</a:t>
            </a:r>
            <a:endParaRPr lang="en-US" sz="1450" dirty="0"/>
          </a:p>
        </p:txBody>
      </p:sp>
      <p:sp>
        <p:nvSpPr>
          <p:cNvPr id="15" name="Text 10"/>
          <p:cNvSpPr/>
          <p:nvPr/>
        </p:nvSpPr>
        <p:spPr>
          <a:xfrm>
            <a:off x="2743200" y="3840480"/>
            <a:ext cx="7802575" cy="640080"/>
          </a:xfrm>
          <a:prstGeom prst="rect">
            <a:avLst/>
          </a:prstGeom>
          <a:noFill/>
          <a:ln/>
        </p:spPr>
        <p:txBody>
          <a:bodyPr wrap="square" lIns="0" tIns="0" rIns="0" bIns="0" rtlCol="0" anchor="ctr"/>
          <a:lstStyle/>
          <a:p>
            <a:pPr marL="0" indent="0">
              <a:lnSpc>
                <a:spcPct val="115000"/>
              </a:lnSpc>
              <a:buNone/>
            </a:pPr>
            <a:r>
              <a:rPr lang="en-US" sz="1150" dirty="0">
                <a:solidFill>
                  <a:srgbClr val="9CA3AF"/>
                </a:solidFill>
                <a:latin typeface="Calibri" pitchFamily="34" charset="0"/>
                <a:ea typeface="Calibri" pitchFamily="34" charset="-122"/>
                <a:cs typeface="Calibri" pitchFamily="34" charset="-120"/>
              </a:rPr>
              <a:t>Entity Framework 5 model (UniversityModel.edmx) for typed CRUD, plus direct ADO.NET / SqlClient queries for scheduling and analytics</a:t>
            </a:r>
            <a:endParaRPr lang="en-US" sz="1150" dirty="0"/>
          </a:p>
        </p:txBody>
      </p:sp>
      <p:sp>
        <p:nvSpPr>
          <p:cNvPr id="16" name="Shape 11"/>
          <p:cNvSpPr/>
          <p:nvPr/>
        </p:nvSpPr>
        <p:spPr>
          <a:xfrm>
            <a:off x="5922112" y="4649724"/>
            <a:ext cx="347472" cy="347472"/>
          </a:xfrm>
          <a:prstGeom prst="ellipse">
            <a:avLst/>
          </a:prstGeom>
          <a:solidFill>
            <a:srgbClr val="14101C"/>
          </a:solidFill>
          <a:ln/>
        </p:spPr>
      </p:sp>
      <p:pic>
        <p:nvPicPr>
          <p:cNvPr id="17" name="Image 3" descr="/home/claude/work/build/icons/arrow_gray.png"/>
          <p:cNvPicPr>
            <a:picLocks noChangeAspect="1"/>
          </p:cNvPicPr>
          <p:nvPr/>
        </p:nvPicPr>
        <p:blipFill>
          <a:blip r:embed="rId4"/>
          <a:stretch>
            <a:fillRect/>
          </a:stretch>
        </p:blipFill>
        <p:spPr>
          <a:xfrm>
            <a:off x="5930798" y="4658411"/>
            <a:ext cx="330098" cy="330098"/>
          </a:xfrm>
          <a:prstGeom prst="rect">
            <a:avLst/>
          </a:prstGeom>
        </p:spPr>
      </p:pic>
      <p:sp>
        <p:nvSpPr>
          <p:cNvPr id="18" name="Shape 12"/>
          <p:cNvSpPr/>
          <p:nvPr/>
        </p:nvSpPr>
        <p:spPr>
          <a:xfrm>
            <a:off x="1371600" y="5074920"/>
            <a:ext cx="9448495" cy="1234440"/>
          </a:xfrm>
          <a:prstGeom prst="roundRect">
            <a:avLst>
              <a:gd name="adj" fmla="val 5926"/>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9" name="Shape 13"/>
          <p:cNvSpPr/>
          <p:nvPr/>
        </p:nvSpPr>
        <p:spPr>
          <a:xfrm>
            <a:off x="1668780" y="5257800"/>
            <a:ext cx="868680" cy="868680"/>
          </a:xfrm>
          <a:prstGeom prst="ellipse">
            <a:avLst/>
          </a:prstGeom>
          <a:solidFill>
            <a:srgbClr val="8B5CF6"/>
          </a:solidFill>
          <a:ln/>
        </p:spPr>
      </p:sp>
      <p:pic>
        <p:nvPicPr>
          <p:cNvPr id="20" name="Image 4" descr="/home/claude/work/build/icons/database_white.png"/>
          <p:cNvPicPr>
            <a:picLocks noChangeAspect="1"/>
          </p:cNvPicPr>
          <p:nvPr/>
        </p:nvPicPr>
        <p:blipFill>
          <a:blip r:embed="rId6"/>
          <a:stretch>
            <a:fillRect/>
          </a:stretch>
        </p:blipFill>
        <p:spPr>
          <a:xfrm>
            <a:off x="1877263" y="5466283"/>
            <a:ext cx="451714" cy="451714"/>
          </a:xfrm>
          <a:prstGeom prst="rect">
            <a:avLst/>
          </a:prstGeom>
        </p:spPr>
      </p:pic>
      <p:sp>
        <p:nvSpPr>
          <p:cNvPr id="21" name="Text 14"/>
          <p:cNvSpPr/>
          <p:nvPr/>
        </p:nvSpPr>
        <p:spPr>
          <a:xfrm>
            <a:off x="2743200" y="5239512"/>
            <a:ext cx="7802575" cy="320040"/>
          </a:xfrm>
          <a:prstGeom prst="rect">
            <a:avLst/>
          </a:prstGeom>
          <a:noFill/>
          <a:ln/>
        </p:spPr>
        <p:txBody>
          <a:bodyPr wrap="square" lIns="0" tIns="0" rIns="0" bIns="0" rtlCol="0" anchor="ctr"/>
          <a:lstStyle/>
          <a:p>
            <a:pPr marL="0" indent="0">
              <a:buNone/>
            </a:pPr>
            <a:r>
              <a:rPr lang="en-US" sz="1450" b="1" kern="0" spc="100" dirty="0">
                <a:solidFill>
                  <a:srgbClr val="8B5CF6"/>
                </a:solidFill>
                <a:latin typeface="Calibri" pitchFamily="34" charset="0"/>
                <a:ea typeface="Calibri" pitchFamily="34" charset="-122"/>
                <a:cs typeface="Calibri" pitchFamily="34" charset="-120"/>
              </a:rPr>
              <a:t>DATA LAYER</a:t>
            </a:r>
            <a:endParaRPr lang="en-US" sz="1450" dirty="0"/>
          </a:p>
        </p:txBody>
      </p:sp>
      <p:sp>
        <p:nvSpPr>
          <p:cNvPr id="22" name="Text 15"/>
          <p:cNvSpPr/>
          <p:nvPr/>
        </p:nvSpPr>
        <p:spPr>
          <a:xfrm>
            <a:off x="2743200" y="5577840"/>
            <a:ext cx="7802575" cy="640080"/>
          </a:xfrm>
          <a:prstGeom prst="rect">
            <a:avLst/>
          </a:prstGeom>
          <a:noFill/>
          <a:ln/>
        </p:spPr>
        <p:txBody>
          <a:bodyPr wrap="square" lIns="0" tIns="0" rIns="0" bIns="0" rtlCol="0" anchor="ctr"/>
          <a:lstStyle/>
          <a:p>
            <a:pPr marL="0" indent="0">
              <a:lnSpc>
                <a:spcPct val="115000"/>
              </a:lnSpc>
              <a:buNone/>
            </a:pPr>
            <a:r>
              <a:rPr lang="en-US" sz="1150" dirty="0">
                <a:solidFill>
                  <a:srgbClr val="9CA3AF"/>
                </a:solidFill>
                <a:latin typeface="Calibri" pitchFamily="34" charset="0"/>
                <a:ea typeface="Calibri" pitchFamily="34" charset="-122"/>
                <a:cs typeface="Calibri" pitchFamily="34" charset="-120"/>
              </a:rPr>
              <a:t>SQL Server Express database — “University” catalog storing students, instructors, courses, sections, enrollment, and scheduling data</a:t>
            </a:r>
            <a:endParaRPr lang="en-US" sz="1150" dirty="0"/>
          </a:p>
        </p:txBody>
      </p:sp>
      <p:sp>
        <p:nvSpPr>
          <p:cNvPr id="23" name="Text 16"/>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4" name="Text 17"/>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DATA MODEL</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Database Design</a:t>
            </a:r>
            <a:endParaRPr lang="en-US" sz="3000" dirty="0"/>
          </a:p>
        </p:txBody>
      </p:sp>
      <p:sp>
        <p:nvSpPr>
          <p:cNvPr id="4" name="Text 2"/>
          <p:cNvSpPr/>
          <p:nvPr/>
        </p:nvSpPr>
        <p:spPr>
          <a:xfrm>
            <a:off x="548640" y="1417320"/>
            <a:ext cx="11094415" cy="365760"/>
          </a:xfrm>
          <a:prstGeom prst="rect">
            <a:avLst/>
          </a:prstGeom>
          <a:noFill/>
          <a:ln/>
        </p:spPr>
        <p:txBody>
          <a:bodyPr wrap="square" lIns="0" tIns="0" rIns="0" bIns="0" rtlCol="0" anchor="ctr"/>
          <a:lstStyle/>
          <a:p>
            <a:pPr marL="0" indent="0">
              <a:buNone/>
            </a:pPr>
            <a:r>
              <a:rPr lang="en-US" sz="1300" dirty="0">
                <a:solidFill>
                  <a:srgbClr val="9CA3AF"/>
                </a:solidFill>
                <a:latin typeface="Calibri" pitchFamily="34" charset="0"/>
                <a:ea typeface="Calibri" pitchFamily="34" charset="-122"/>
                <a:cs typeface="Calibri" pitchFamily="34" charset="-120"/>
              </a:rPr>
              <a:t>Modeled with Entity Framework's visual designer (UniversityModel.edmx) around ten related tables.</a:t>
            </a:r>
            <a:endParaRPr lang="en-US" sz="1300" dirty="0"/>
          </a:p>
        </p:txBody>
      </p:sp>
      <p:sp>
        <p:nvSpPr>
          <p:cNvPr id="5" name="Shape 3"/>
          <p:cNvSpPr/>
          <p:nvPr/>
        </p:nvSpPr>
        <p:spPr>
          <a:xfrm>
            <a:off x="548640" y="1737360"/>
            <a:ext cx="1828800" cy="502920"/>
          </a:xfrm>
          <a:prstGeom prst="roundRect">
            <a:avLst>
              <a:gd name="adj" fmla="val 14545"/>
            </a:avLst>
          </a:prstGeom>
          <a:solidFill>
            <a:srgbClr val="201A2C"/>
          </a:solidFill>
          <a:ln w="12700">
            <a:solidFill>
              <a:srgbClr val="373047"/>
            </a:solidFill>
            <a:prstDash val="solid"/>
          </a:ln>
        </p:spPr>
      </p:sp>
      <p:sp>
        <p:nvSpPr>
          <p:cNvPr id="6" name="Text 4"/>
          <p:cNvSpPr/>
          <p:nvPr/>
        </p:nvSpPr>
        <p:spPr>
          <a:xfrm>
            <a:off x="548640" y="1737360"/>
            <a:ext cx="1828800" cy="502920"/>
          </a:xfrm>
          <a:prstGeom prst="rect">
            <a:avLst/>
          </a:prstGeom>
          <a:noFill/>
          <a:ln/>
        </p:spPr>
        <p:txBody>
          <a:bodyPr wrap="square" lIns="0" tIns="0" rIns="0" bIns="0"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department</a:t>
            </a:r>
            <a:endParaRPr lang="en-US" sz="1150" dirty="0"/>
          </a:p>
        </p:txBody>
      </p:sp>
      <p:sp>
        <p:nvSpPr>
          <p:cNvPr id="7" name="Shape 5"/>
          <p:cNvSpPr/>
          <p:nvPr/>
        </p:nvSpPr>
        <p:spPr>
          <a:xfrm>
            <a:off x="2651760" y="1737360"/>
            <a:ext cx="1828800" cy="502920"/>
          </a:xfrm>
          <a:prstGeom prst="roundRect">
            <a:avLst>
              <a:gd name="adj" fmla="val 14545"/>
            </a:avLst>
          </a:prstGeom>
          <a:solidFill>
            <a:srgbClr val="201A2C"/>
          </a:solidFill>
          <a:ln w="12700">
            <a:solidFill>
              <a:srgbClr val="373047"/>
            </a:solidFill>
            <a:prstDash val="solid"/>
          </a:ln>
        </p:spPr>
      </p:sp>
      <p:sp>
        <p:nvSpPr>
          <p:cNvPr id="8" name="Text 6"/>
          <p:cNvSpPr/>
          <p:nvPr/>
        </p:nvSpPr>
        <p:spPr>
          <a:xfrm>
            <a:off x="2651760" y="1737360"/>
            <a:ext cx="1828800" cy="502920"/>
          </a:xfrm>
          <a:prstGeom prst="rect">
            <a:avLst/>
          </a:prstGeom>
          <a:noFill/>
          <a:ln/>
        </p:spPr>
        <p:txBody>
          <a:bodyPr wrap="square" lIns="0" tIns="0" rIns="0" bIns="0"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instructor</a:t>
            </a:r>
            <a:endParaRPr lang="en-US" sz="1150" dirty="0"/>
          </a:p>
        </p:txBody>
      </p:sp>
      <p:sp>
        <p:nvSpPr>
          <p:cNvPr id="9" name="Shape 7"/>
          <p:cNvSpPr/>
          <p:nvPr/>
        </p:nvSpPr>
        <p:spPr>
          <a:xfrm>
            <a:off x="4754880" y="1737360"/>
            <a:ext cx="1828800" cy="502920"/>
          </a:xfrm>
          <a:prstGeom prst="roundRect">
            <a:avLst>
              <a:gd name="adj" fmla="val 14545"/>
            </a:avLst>
          </a:prstGeom>
          <a:solidFill>
            <a:srgbClr val="201A2C"/>
          </a:solidFill>
          <a:ln w="12700">
            <a:solidFill>
              <a:srgbClr val="373047"/>
            </a:solidFill>
            <a:prstDash val="solid"/>
          </a:ln>
        </p:spPr>
      </p:sp>
      <p:sp>
        <p:nvSpPr>
          <p:cNvPr id="10" name="Text 8"/>
          <p:cNvSpPr/>
          <p:nvPr/>
        </p:nvSpPr>
        <p:spPr>
          <a:xfrm>
            <a:off x="4754880" y="1737360"/>
            <a:ext cx="1828800" cy="502920"/>
          </a:xfrm>
          <a:prstGeom prst="rect">
            <a:avLst/>
          </a:prstGeom>
          <a:noFill/>
          <a:ln/>
        </p:spPr>
        <p:txBody>
          <a:bodyPr wrap="square" lIns="0" tIns="0" rIns="0" bIns="0"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student</a:t>
            </a:r>
            <a:endParaRPr lang="en-US" sz="1150" dirty="0"/>
          </a:p>
        </p:txBody>
      </p:sp>
      <p:sp>
        <p:nvSpPr>
          <p:cNvPr id="11" name="Shape 9"/>
          <p:cNvSpPr/>
          <p:nvPr/>
        </p:nvSpPr>
        <p:spPr>
          <a:xfrm>
            <a:off x="6858000" y="1737360"/>
            <a:ext cx="1920240" cy="502920"/>
          </a:xfrm>
          <a:prstGeom prst="roundRect">
            <a:avLst>
              <a:gd name="adj" fmla="val 14545"/>
            </a:avLst>
          </a:prstGeom>
          <a:solidFill>
            <a:srgbClr val="201A2C"/>
          </a:solidFill>
          <a:ln w="12700">
            <a:solidFill>
              <a:srgbClr val="373047"/>
            </a:solidFill>
            <a:prstDash val="solid"/>
          </a:ln>
        </p:spPr>
      </p:sp>
      <p:sp>
        <p:nvSpPr>
          <p:cNvPr id="12" name="Text 10"/>
          <p:cNvSpPr/>
          <p:nvPr/>
        </p:nvSpPr>
        <p:spPr>
          <a:xfrm>
            <a:off x="6858000" y="1737360"/>
            <a:ext cx="1920240" cy="502920"/>
          </a:xfrm>
          <a:prstGeom prst="rect">
            <a:avLst/>
          </a:prstGeom>
          <a:noFill/>
          <a:ln/>
        </p:spPr>
        <p:txBody>
          <a:bodyPr wrap="square" lIns="0" tIns="0" rIns="0" bIns="0"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user (login)</a:t>
            </a:r>
            <a:endParaRPr lang="en-US" sz="1150" dirty="0"/>
          </a:p>
        </p:txBody>
      </p:sp>
      <p:sp>
        <p:nvSpPr>
          <p:cNvPr id="13" name="Shape 11"/>
          <p:cNvSpPr/>
          <p:nvPr/>
        </p:nvSpPr>
        <p:spPr>
          <a:xfrm>
            <a:off x="9052560" y="1737360"/>
            <a:ext cx="1828800" cy="502920"/>
          </a:xfrm>
          <a:prstGeom prst="roundRect">
            <a:avLst>
              <a:gd name="adj" fmla="val 14545"/>
            </a:avLst>
          </a:prstGeom>
          <a:solidFill>
            <a:srgbClr val="201A2C"/>
          </a:solidFill>
          <a:ln w="12700">
            <a:solidFill>
              <a:srgbClr val="373047"/>
            </a:solidFill>
            <a:prstDash val="solid"/>
          </a:ln>
        </p:spPr>
      </p:sp>
      <p:sp>
        <p:nvSpPr>
          <p:cNvPr id="14" name="Text 12"/>
          <p:cNvSpPr/>
          <p:nvPr/>
        </p:nvSpPr>
        <p:spPr>
          <a:xfrm>
            <a:off x="9052560" y="1737360"/>
            <a:ext cx="1828800" cy="502920"/>
          </a:xfrm>
          <a:prstGeom prst="rect">
            <a:avLst/>
          </a:prstGeom>
          <a:noFill/>
          <a:ln/>
        </p:spPr>
        <p:txBody>
          <a:bodyPr wrap="square" lIns="0" tIns="0" rIns="0" bIns="0"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classroom</a:t>
            </a:r>
            <a:endParaRPr lang="en-US" sz="1150" dirty="0"/>
          </a:p>
        </p:txBody>
      </p:sp>
      <p:sp>
        <p:nvSpPr>
          <p:cNvPr id="15" name="Shape 13"/>
          <p:cNvSpPr/>
          <p:nvPr/>
        </p:nvSpPr>
        <p:spPr>
          <a:xfrm>
            <a:off x="548640" y="2697480"/>
            <a:ext cx="1828800" cy="502920"/>
          </a:xfrm>
          <a:prstGeom prst="roundRect">
            <a:avLst>
              <a:gd name="adj" fmla="val 14545"/>
            </a:avLst>
          </a:prstGeom>
          <a:solidFill>
            <a:srgbClr val="201A2C"/>
          </a:solidFill>
          <a:ln w="12700">
            <a:solidFill>
              <a:srgbClr val="373047"/>
            </a:solidFill>
            <a:prstDash val="solid"/>
          </a:ln>
        </p:spPr>
      </p:sp>
      <p:sp>
        <p:nvSpPr>
          <p:cNvPr id="16" name="Text 14"/>
          <p:cNvSpPr/>
          <p:nvPr/>
        </p:nvSpPr>
        <p:spPr>
          <a:xfrm>
            <a:off x="548640" y="2697480"/>
            <a:ext cx="1828800" cy="502920"/>
          </a:xfrm>
          <a:prstGeom prst="rect">
            <a:avLst/>
          </a:prstGeom>
          <a:noFill/>
          <a:ln/>
        </p:spPr>
        <p:txBody>
          <a:bodyPr wrap="square" lIns="0" tIns="0" rIns="0" bIns="0"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course</a:t>
            </a:r>
            <a:endParaRPr lang="en-US" sz="1150" dirty="0"/>
          </a:p>
        </p:txBody>
      </p:sp>
      <p:sp>
        <p:nvSpPr>
          <p:cNvPr id="17" name="Shape 15"/>
          <p:cNvSpPr/>
          <p:nvPr/>
        </p:nvSpPr>
        <p:spPr>
          <a:xfrm>
            <a:off x="2651760" y="2697480"/>
            <a:ext cx="1828800" cy="502920"/>
          </a:xfrm>
          <a:prstGeom prst="roundRect">
            <a:avLst>
              <a:gd name="adj" fmla="val 14545"/>
            </a:avLst>
          </a:prstGeom>
          <a:solidFill>
            <a:srgbClr val="201A2C"/>
          </a:solidFill>
          <a:ln w="12700">
            <a:solidFill>
              <a:srgbClr val="373047"/>
            </a:solidFill>
            <a:prstDash val="solid"/>
          </a:ln>
        </p:spPr>
      </p:sp>
      <p:sp>
        <p:nvSpPr>
          <p:cNvPr id="18" name="Text 16"/>
          <p:cNvSpPr/>
          <p:nvPr/>
        </p:nvSpPr>
        <p:spPr>
          <a:xfrm>
            <a:off x="2651760" y="2697480"/>
            <a:ext cx="1828800" cy="502920"/>
          </a:xfrm>
          <a:prstGeom prst="rect">
            <a:avLst/>
          </a:prstGeom>
          <a:noFill/>
          <a:ln/>
        </p:spPr>
        <p:txBody>
          <a:bodyPr wrap="square" lIns="0" tIns="0" rIns="0" bIns="0"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section</a:t>
            </a:r>
            <a:endParaRPr lang="en-US" sz="1150" dirty="0"/>
          </a:p>
        </p:txBody>
      </p:sp>
      <p:sp>
        <p:nvSpPr>
          <p:cNvPr id="19" name="Shape 17"/>
          <p:cNvSpPr/>
          <p:nvPr/>
        </p:nvSpPr>
        <p:spPr>
          <a:xfrm>
            <a:off x="4754880" y="2697480"/>
            <a:ext cx="1828800" cy="502920"/>
          </a:xfrm>
          <a:prstGeom prst="roundRect">
            <a:avLst>
              <a:gd name="adj" fmla="val 14545"/>
            </a:avLst>
          </a:prstGeom>
          <a:solidFill>
            <a:srgbClr val="201A2C"/>
          </a:solidFill>
          <a:ln w="12700">
            <a:solidFill>
              <a:srgbClr val="373047"/>
            </a:solidFill>
            <a:prstDash val="solid"/>
          </a:ln>
        </p:spPr>
      </p:sp>
      <p:sp>
        <p:nvSpPr>
          <p:cNvPr id="20" name="Text 18"/>
          <p:cNvSpPr/>
          <p:nvPr/>
        </p:nvSpPr>
        <p:spPr>
          <a:xfrm>
            <a:off x="4754880" y="2697480"/>
            <a:ext cx="1828800" cy="502920"/>
          </a:xfrm>
          <a:prstGeom prst="rect">
            <a:avLst/>
          </a:prstGeom>
          <a:noFill/>
          <a:ln/>
        </p:spPr>
        <p:txBody>
          <a:bodyPr wrap="square" lIns="0" tIns="0" rIns="0" bIns="0"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time_slot</a:t>
            </a:r>
            <a:endParaRPr lang="en-US" sz="1150" dirty="0"/>
          </a:p>
        </p:txBody>
      </p:sp>
      <p:sp>
        <p:nvSpPr>
          <p:cNvPr id="21" name="Shape 19"/>
          <p:cNvSpPr/>
          <p:nvPr/>
        </p:nvSpPr>
        <p:spPr>
          <a:xfrm>
            <a:off x="6766560" y="3520440"/>
            <a:ext cx="4114800" cy="502920"/>
          </a:xfrm>
          <a:prstGeom prst="roundRect">
            <a:avLst>
              <a:gd name="adj" fmla="val 14545"/>
            </a:avLst>
          </a:prstGeom>
          <a:solidFill>
            <a:srgbClr val="201A2C"/>
          </a:solidFill>
          <a:ln w="12700">
            <a:solidFill>
              <a:srgbClr val="373047"/>
            </a:solidFill>
            <a:prstDash val="solid"/>
          </a:ln>
        </p:spPr>
      </p:sp>
      <p:sp>
        <p:nvSpPr>
          <p:cNvPr id="22" name="Text 20"/>
          <p:cNvSpPr/>
          <p:nvPr/>
        </p:nvSpPr>
        <p:spPr>
          <a:xfrm>
            <a:off x="6766560" y="3520440"/>
            <a:ext cx="4114800" cy="502920"/>
          </a:xfrm>
          <a:prstGeom prst="rect">
            <a:avLst/>
          </a:prstGeom>
          <a:noFill/>
          <a:ln/>
        </p:spPr>
        <p:txBody>
          <a:bodyPr wrap="square" lIns="0" tIns="0" rIns="0" bIns="0" rtlCol="0" anchor="ctr"/>
          <a:lstStyle/>
          <a:p>
            <a:pPr marL="0" indent="0" algn="ctr">
              <a:buNone/>
            </a:pPr>
            <a:r>
              <a:rPr lang="en-US" sz="1150" b="1" dirty="0">
                <a:solidFill>
                  <a:srgbClr val="8B5CF6"/>
                </a:solidFill>
                <a:latin typeface="Calibri" pitchFamily="34" charset="0"/>
                <a:ea typeface="Calibri" pitchFamily="34" charset="-122"/>
                <a:cs typeface="Calibri" pitchFamily="34" charset="-120"/>
              </a:rPr>
              <a:t>advisor (links student ↔ instructor)</a:t>
            </a:r>
            <a:endParaRPr lang="en-US" sz="1150" dirty="0"/>
          </a:p>
        </p:txBody>
      </p:sp>
      <p:sp>
        <p:nvSpPr>
          <p:cNvPr id="23" name="Shape 21"/>
          <p:cNvSpPr/>
          <p:nvPr/>
        </p:nvSpPr>
        <p:spPr>
          <a:xfrm>
            <a:off x="2377440" y="3520440"/>
            <a:ext cx="4114800" cy="502920"/>
          </a:xfrm>
          <a:prstGeom prst="roundRect">
            <a:avLst>
              <a:gd name="adj" fmla="val 14545"/>
            </a:avLst>
          </a:prstGeom>
          <a:solidFill>
            <a:srgbClr val="201A2C"/>
          </a:solidFill>
          <a:ln w="12700">
            <a:solidFill>
              <a:srgbClr val="373047"/>
            </a:solidFill>
            <a:prstDash val="solid"/>
          </a:ln>
        </p:spPr>
      </p:sp>
      <p:sp>
        <p:nvSpPr>
          <p:cNvPr id="24" name="Text 22"/>
          <p:cNvSpPr/>
          <p:nvPr/>
        </p:nvSpPr>
        <p:spPr>
          <a:xfrm>
            <a:off x="2377440" y="3520440"/>
            <a:ext cx="4114800" cy="502920"/>
          </a:xfrm>
          <a:prstGeom prst="rect">
            <a:avLst/>
          </a:prstGeom>
          <a:noFill/>
          <a:ln/>
        </p:spPr>
        <p:txBody>
          <a:bodyPr wrap="square" lIns="0" tIns="0" rIns="0" bIns="0" rtlCol="0" anchor="ctr"/>
          <a:lstStyle/>
          <a:p>
            <a:pPr marL="0" indent="0" algn="ctr">
              <a:buNone/>
            </a:pPr>
            <a:r>
              <a:rPr lang="en-US" sz="1150" b="1" dirty="0">
                <a:solidFill>
                  <a:srgbClr val="10B981"/>
                </a:solidFill>
                <a:latin typeface="Calibri" pitchFamily="34" charset="0"/>
                <a:ea typeface="Calibri" pitchFamily="34" charset="-122"/>
                <a:cs typeface="Calibri" pitchFamily="34" charset="-120"/>
              </a:rPr>
              <a:t>takes (student ↔ section, grade)</a:t>
            </a:r>
            <a:endParaRPr lang="en-US" sz="1150" dirty="0"/>
          </a:p>
        </p:txBody>
      </p:sp>
      <p:sp>
        <p:nvSpPr>
          <p:cNvPr id="25" name="Shape 23"/>
          <p:cNvSpPr/>
          <p:nvPr/>
        </p:nvSpPr>
        <p:spPr>
          <a:xfrm>
            <a:off x="1463040" y="2240280"/>
            <a:ext cx="0" cy="457200"/>
          </a:xfrm>
          <a:prstGeom prst="line">
            <a:avLst/>
          </a:prstGeom>
          <a:noFill/>
          <a:ln w="15875">
            <a:solidFill>
              <a:srgbClr val="373047"/>
            </a:solidFill>
            <a:prstDash val="solid"/>
          </a:ln>
        </p:spPr>
      </p:sp>
      <p:sp>
        <p:nvSpPr>
          <p:cNvPr id="26" name="Shape 24"/>
          <p:cNvSpPr/>
          <p:nvPr/>
        </p:nvSpPr>
        <p:spPr>
          <a:xfrm>
            <a:off x="3566160" y="2240280"/>
            <a:ext cx="0" cy="457200"/>
          </a:xfrm>
          <a:prstGeom prst="line">
            <a:avLst/>
          </a:prstGeom>
          <a:noFill/>
          <a:ln w="15875">
            <a:solidFill>
              <a:srgbClr val="373047"/>
            </a:solidFill>
            <a:prstDash val="solid"/>
          </a:ln>
        </p:spPr>
      </p:sp>
      <p:sp>
        <p:nvSpPr>
          <p:cNvPr id="27" name="Shape 25"/>
          <p:cNvSpPr/>
          <p:nvPr/>
        </p:nvSpPr>
        <p:spPr>
          <a:xfrm>
            <a:off x="5669280" y="2240280"/>
            <a:ext cx="0" cy="457200"/>
          </a:xfrm>
          <a:prstGeom prst="line">
            <a:avLst/>
          </a:prstGeom>
          <a:noFill/>
          <a:ln w="15875">
            <a:solidFill>
              <a:srgbClr val="373047"/>
            </a:solidFill>
            <a:prstDash val="solid"/>
          </a:ln>
        </p:spPr>
      </p:sp>
      <p:sp>
        <p:nvSpPr>
          <p:cNvPr id="28" name="Shape 26"/>
          <p:cNvSpPr/>
          <p:nvPr/>
        </p:nvSpPr>
        <p:spPr>
          <a:xfrm>
            <a:off x="3566160" y="3200400"/>
            <a:ext cx="0" cy="320040"/>
          </a:xfrm>
          <a:prstGeom prst="line">
            <a:avLst/>
          </a:prstGeom>
          <a:noFill/>
          <a:ln w="15875">
            <a:solidFill>
              <a:srgbClr val="373047"/>
            </a:solidFill>
            <a:prstDash val="solid"/>
          </a:ln>
        </p:spPr>
      </p:sp>
      <p:sp>
        <p:nvSpPr>
          <p:cNvPr id="29" name="Shape 27"/>
          <p:cNvSpPr/>
          <p:nvPr/>
        </p:nvSpPr>
        <p:spPr>
          <a:xfrm>
            <a:off x="7863840" y="2240280"/>
            <a:ext cx="0" cy="1280160"/>
          </a:xfrm>
          <a:prstGeom prst="line">
            <a:avLst/>
          </a:prstGeom>
          <a:noFill/>
          <a:ln w="15875">
            <a:solidFill>
              <a:srgbClr val="373047"/>
            </a:solidFill>
            <a:prstDash val="solid"/>
          </a:ln>
        </p:spPr>
      </p:sp>
      <p:sp>
        <p:nvSpPr>
          <p:cNvPr id="30" name="Text 28"/>
          <p:cNvSpPr/>
          <p:nvPr/>
        </p:nvSpPr>
        <p:spPr>
          <a:xfrm>
            <a:off x="548640" y="4297680"/>
            <a:ext cx="11094415" cy="1280160"/>
          </a:xfrm>
          <a:prstGeom prst="rect">
            <a:avLst/>
          </a:prstGeom>
          <a:noFill/>
          <a:ln/>
        </p:spPr>
        <p:txBody>
          <a:bodyPr wrap="square" lIns="0" tIns="0" rIns="0" bIns="0" rtlCol="0" anchor="ctr"/>
          <a:lstStyle/>
          <a:p>
            <a:pPr marL="0" indent="0">
              <a:lnSpc>
                <a:spcPct val="125000"/>
              </a:lnSpc>
              <a:buNone/>
            </a:pPr>
            <a:r>
              <a:rPr lang="en-US" sz="1250" dirty="0">
                <a:solidFill>
                  <a:srgbClr val="9CA3AF"/>
                </a:solidFill>
                <a:latin typeface="Calibri" pitchFamily="34" charset="0"/>
                <a:ea typeface="Calibri" pitchFamily="34" charset="-122"/>
                <a:cs typeface="Calibri" pitchFamily="34" charset="-120"/>
              </a:rPr>
              <a:t>Core academic entities (department, course, instructor, student, section, classroom, time_slot) connect through two key relationship tables: “takes” records each enrollment and grade, while “advisor” links each student to a supervising instructor. A separate “user” table drives login and role-based access.</a:t>
            </a:r>
            <a:endParaRPr lang="en-US" sz="1250" dirty="0"/>
          </a:p>
        </p:txBody>
      </p:sp>
      <p:sp>
        <p:nvSpPr>
          <p:cNvPr id="31" name="Text 29"/>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32" name="Text 30"/>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ACCESS CONTROL</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User Roles &amp; Secure Login</a:t>
            </a:r>
            <a:endParaRPr lang="en-US" sz="3000" dirty="0"/>
          </a:p>
        </p:txBody>
      </p:sp>
      <p:sp>
        <p:nvSpPr>
          <p:cNvPr id="4" name="Text 2"/>
          <p:cNvSpPr/>
          <p:nvPr/>
        </p:nvSpPr>
        <p:spPr>
          <a:xfrm>
            <a:off x="548640" y="1417320"/>
            <a:ext cx="11094415" cy="548640"/>
          </a:xfrm>
          <a:prstGeom prst="rect">
            <a:avLst/>
          </a:prstGeom>
          <a:noFill/>
          <a:ln/>
        </p:spPr>
        <p:txBody>
          <a:bodyPr wrap="square" lIns="0" tIns="0" rIns="0" bIns="0" rtlCol="0" anchor="ctr"/>
          <a:lstStyle/>
          <a:p>
            <a:pPr marL="0" indent="0">
              <a:lnSpc>
                <a:spcPct val="120000"/>
              </a:lnSpc>
              <a:buNone/>
            </a:pPr>
            <a:r>
              <a:rPr lang="en-US" sz="1300" dirty="0">
                <a:solidFill>
                  <a:srgbClr val="9CA3AF"/>
                </a:solidFill>
                <a:latin typeface="Calibri" pitchFamily="34" charset="0"/>
                <a:ea typeface="Calibri" pitchFamily="34" charset="-122"/>
                <a:cs typeface="Calibri" pitchFamily="34" charset="-120"/>
              </a:rPr>
              <a:t>One login screen authenticates every user against the “user” table, then routes them to a dashboard built for their role — case-insensitively, so “Administrator” and “administrator” both work.</a:t>
            </a:r>
            <a:endParaRPr lang="en-US" sz="1300" dirty="0"/>
          </a:p>
        </p:txBody>
      </p:sp>
      <p:sp>
        <p:nvSpPr>
          <p:cNvPr id="5" name="Shape 3"/>
          <p:cNvSpPr/>
          <p:nvPr/>
        </p:nvSpPr>
        <p:spPr>
          <a:xfrm>
            <a:off x="4632808" y="2148840"/>
            <a:ext cx="2926080" cy="777240"/>
          </a:xfrm>
          <a:prstGeom prst="roundRect">
            <a:avLst>
              <a:gd name="adj" fmla="val 9412"/>
            </a:avLst>
          </a:prstGeom>
          <a:solidFill>
            <a:srgbClr val="281F38"/>
          </a:solidFill>
          <a:ln w="12700">
            <a:solidFill>
              <a:srgbClr val="373047"/>
            </a:solidFill>
            <a:prstDash val="solid"/>
          </a:ln>
          <a:effectLst>
            <a:outerShdw blurRad="101600" dist="38100" dir="5400000" algn="bl" rotWithShape="0">
              <a:srgbClr val="000000">
                <a:alpha val="25000"/>
              </a:srgbClr>
            </a:outerShdw>
          </a:effectLst>
        </p:spPr>
      </p:sp>
      <p:sp>
        <p:nvSpPr>
          <p:cNvPr id="6" name="Shape 4"/>
          <p:cNvSpPr/>
          <p:nvPr/>
        </p:nvSpPr>
        <p:spPr>
          <a:xfrm>
            <a:off x="4838548" y="2286000"/>
            <a:ext cx="502920" cy="502920"/>
          </a:xfrm>
          <a:prstGeom prst="ellipse">
            <a:avLst/>
          </a:prstGeom>
          <a:solidFill>
            <a:srgbClr val="10B981"/>
          </a:solidFill>
          <a:ln/>
        </p:spPr>
      </p:sp>
      <p:pic>
        <p:nvPicPr>
          <p:cNvPr id="7" name="Image 0" descr="/home/claude/work/build/icons/lock_white.png"/>
          <p:cNvPicPr>
            <a:picLocks noChangeAspect="1"/>
          </p:cNvPicPr>
          <p:nvPr/>
        </p:nvPicPr>
        <p:blipFill>
          <a:blip r:embed="rId3"/>
          <a:stretch>
            <a:fillRect/>
          </a:stretch>
        </p:blipFill>
        <p:spPr>
          <a:xfrm>
            <a:off x="4951705" y="2399157"/>
            <a:ext cx="276606" cy="276606"/>
          </a:xfrm>
          <a:prstGeom prst="rect">
            <a:avLst/>
          </a:prstGeom>
        </p:spPr>
      </p:pic>
      <p:sp>
        <p:nvSpPr>
          <p:cNvPr id="8" name="Text 5"/>
          <p:cNvSpPr/>
          <p:nvPr/>
        </p:nvSpPr>
        <p:spPr>
          <a:xfrm>
            <a:off x="5501488" y="2148840"/>
            <a:ext cx="1920240" cy="777240"/>
          </a:xfrm>
          <a:prstGeom prst="rect">
            <a:avLst/>
          </a:prstGeom>
          <a:noFill/>
          <a:ln/>
        </p:spPr>
        <p:txBody>
          <a:bodyPr wrap="square" lIns="0" tIns="0" rIns="0" bIns="0" rtlCol="0" anchor="ctr"/>
          <a:lstStyle/>
          <a:p>
            <a:pPr marL="0" indent="0">
              <a:buNone/>
            </a:pPr>
            <a:r>
              <a:rPr lang="en-US" sz="1300" b="1" dirty="0">
                <a:solidFill>
                  <a:srgbClr val="F3F4F6"/>
                </a:solidFill>
                <a:latin typeface="Calibri" pitchFamily="34" charset="0"/>
                <a:ea typeface="Calibri" pitchFamily="34" charset="-122"/>
                <a:cs typeface="Calibri" pitchFamily="34" charset="-120"/>
              </a:rPr>
              <a:t>LOGIN FORM</a:t>
            </a:r>
            <a:endParaRPr lang="en-US" sz="1300" dirty="0"/>
          </a:p>
        </p:txBody>
      </p:sp>
      <p:sp>
        <p:nvSpPr>
          <p:cNvPr id="9" name="Shape 6"/>
          <p:cNvSpPr/>
          <p:nvPr/>
        </p:nvSpPr>
        <p:spPr>
          <a:xfrm>
            <a:off x="2392528" y="2926080"/>
            <a:ext cx="3703320" cy="731520"/>
          </a:xfrm>
          <a:prstGeom prst="line">
            <a:avLst/>
          </a:prstGeom>
          <a:noFill/>
          <a:ln w="15875">
            <a:solidFill>
              <a:srgbClr val="373047"/>
            </a:solidFill>
            <a:prstDash val="solid"/>
          </a:ln>
        </p:spPr>
      </p:sp>
      <p:sp>
        <p:nvSpPr>
          <p:cNvPr id="10" name="Shape 7"/>
          <p:cNvSpPr/>
          <p:nvPr/>
        </p:nvSpPr>
        <p:spPr>
          <a:xfrm>
            <a:off x="700888" y="3657600"/>
            <a:ext cx="3383280" cy="2331720"/>
          </a:xfrm>
          <a:prstGeom prst="roundRect">
            <a:avLst>
              <a:gd name="adj" fmla="val 3137"/>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1" name="Shape 8"/>
          <p:cNvSpPr/>
          <p:nvPr/>
        </p:nvSpPr>
        <p:spPr>
          <a:xfrm>
            <a:off x="1935328" y="3886200"/>
            <a:ext cx="914400" cy="914400"/>
          </a:xfrm>
          <a:prstGeom prst="ellipse">
            <a:avLst/>
          </a:prstGeom>
          <a:solidFill>
            <a:srgbClr val="8B5CF6"/>
          </a:solidFill>
          <a:ln/>
        </p:spPr>
      </p:sp>
      <p:pic>
        <p:nvPicPr>
          <p:cNvPr id="12" name="Image 1" descr="/home/claude/work/build/icons/admin_white.png"/>
          <p:cNvPicPr>
            <a:picLocks noChangeAspect="1"/>
          </p:cNvPicPr>
          <p:nvPr/>
        </p:nvPicPr>
        <p:blipFill>
          <a:blip r:embed="rId4"/>
          <a:stretch>
            <a:fillRect/>
          </a:stretch>
        </p:blipFill>
        <p:spPr>
          <a:xfrm>
            <a:off x="2154784" y="4105656"/>
            <a:ext cx="475488" cy="475488"/>
          </a:xfrm>
          <a:prstGeom prst="rect">
            <a:avLst/>
          </a:prstGeom>
        </p:spPr>
      </p:pic>
      <p:sp>
        <p:nvSpPr>
          <p:cNvPr id="13" name="Text 9"/>
          <p:cNvSpPr/>
          <p:nvPr/>
        </p:nvSpPr>
        <p:spPr>
          <a:xfrm>
            <a:off x="883768" y="4892040"/>
            <a:ext cx="3017520" cy="365760"/>
          </a:xfrm>
          <a:prstGeom prst="rect">
            <a:avLst/>
          </a:prstGeom>
          <a:noFill/>
          <a:ln/>
        </p:spPr>
        <p:txBody>
          <a:bodyPr wrap="square" lIns="0" tIns="0" rIns="0" bIns="0" rtlCol="0" anchor="ctr"/>
          <a:lstStyle/>
          <a:p>
            <a:pPr marL="0" indent="0" algn="ctr">
              <a:buNone/>
            </a:pPr>
            <a:r>
              <a:rPr lang="en-US" sz="1500" b="1" dirty="0">
                <a:solidFill>
                  <a:srgbClr val="F3F4F6"/>
                </a:solidFill>
                <a:latin typeface="Calibri" pitchFamily="34" charset="0"/>
                <a:ea typeface="Calibri" pitchFamily="34" charset="-122"/>
                <a:cs typeface="Calibri" pitchFamily="34" charset="-120"/>
              </a:rPr>
              <a:t>Administrator</a:t>
            </a:r>
            <a:endParaRPr lang="en-US" sz="1500" dirty="0"/>
          </a:p>
        </p:txBody>
      </p:sp>
      <p:sp>
        <p:nvSpPr>
          <p:cNvPr id="14" name="Text 10"/>
          <p:cNvSpPr/>
          <p:nvPr/>
        </p:nvSpPr>
        <p:spPr>
          <a:xfrm>
            <a:off x="975208" y="5285232"/>
            <a:ext cx="2834640" cy="640080"/>
          </a:xfrm>
          <a:prstGeom prst="rect">
            <a:avLst/>
          </a:prstGeom>
          <a:noFill/>
          <a:ln/>
        </p:spPr>
        <p:txBody>
          <a:bodyPr wrap="square" lIns="0" tIns="0" rIns="0" bIns="0" rtlCol="0" anchor="ctr"/>
          <a:lstStyle/>
          <a:p>
            <a:pPr marL="0" indent="0" algn="ctr">
              <a:lnSpc>
                <a:spcPct val="115000"/>
              </a:lnSpc>
              <a:buNone/>
            </a:pPr>
            <a:r>
              <a:rPr lang="en-US" sz="1050" dirty="0">
                <a:solidFill>
                  <a:srgbClr val="9CA3AF"/>
                </a:solidFill>
                <a:latin typeface="Calibri" pitchFamily="34" charset="0"/>
                <a:ea typeface="Calibri" pitchFamily="34" charset="-122"/>
                <a:cs typeface="Calibri" pitchFamily="34" charset="-120"/>
              </a:rPr>
              <a:t>Full access: manage every module — students, instructors, departments, courses, enrollment, scheduling, reports.</a:t>
            </a:r>
            <a:endParaRPr lang="en-US" sz="1050" dirty="0"/>
          </a:p>
        </p:txBody>
      </p:sp>
      <p:sp>
        <p:nvSpPr>
          <p:cNvPr id="15" name="Shape 11"/>
          <p:cNvSpPr/>
          <p:nvPr/>
        </p:nvSpPr>
        <p:spPr>
          <a:xfrm>
            <a:off x="6095848" y="2926080"/>
            <a:ext cx="0" cy="731520"/>
          </a:xfrm>
          <a:prstGeom prst="line">
            <a:avLst/>
          </a:prstGeom>
          <a:noFill/>
          <a:ln w="15875">
            <a:solidFill>
              <a:srgbClr val="373047"/>
            </a:solidFill>
            <a:prstDash val="solid"/>
          </a:ln>
        </p:spPr>
      </p:sp>
      <p:sp>
        <p:nvSpPr>
          <p:cNvPr id="16" name="Shape 12"/>
          <p:cNvSpPr/>
          <p:nvPr/>
        </p:nvSpPr>
        <p:spPr>
          <a:xfrm>
            <a:off x="4404208" y="3657600"/>
            <a:ext cx="3383280" cy="2331720"/>
          </a:xfrm>
          <a:prstGeom prst="roundRect">
            <a:avLst>
              <a:gd name="adj" fmla="val 3137"/>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7" name="Shape 13"/>
          <p:cNvSpPr/>
          <p:nvPr/>
        </p:nvSpPr>
        <p:spPr>
          <a:xfrm>
            <a:off x="5638648" y="3886200"/>
            <a:ext cx="914400" cy="914400"/>
          </a:xfrm>
          <a:prstGeom prst="ellipse">
            <a:avLst/>
          </a:prstGeom>
          <a:solidFill>
            <a:srgbClr val="10B981"/>
          </a:solidFill>
          <a:ln/>
        </p:spPr>
      </p:sp>
      <p:pic>
        <p:nvPicPr>
          <p:cNvPr id="18" name="Image 2" descr="/home/claude/work/build/icons/instructor_white.png"/>
          <p:cNvPicPr>
            <a:picLocks noChangeAspect="1"/>
          </p:cNvPicPr>
          <p:nvPr/>
        </p:nvPicPr>
        <p:blipFill>
          <a:blip r:embed="rId5"/>
          <a:stretch>
            <a:fillRect/>
          </a:stretch>
        </p:blipFill>
        <p:spPr>
          <a:xfrm>
            <a:off x="5858104" y="4105656"/>
            <a:ext cx="475488" cy="475488"/>
          </a:xfrm>
          <a:prstGeom prst="rect">
            <a:avLst/>
          </a:prstGeom>
        </p:spPr>
      </p:pic>
      <p:sp>
        <p:nvSpPr>
          <p:cNvPr id="19" name="Text 14"/>
          <p:cNvSpPr/>
          <p:nvPr/>
        </p:nvSpPr>
        <p:spPr>
          <a:xfrm>
            <a:off x="4587088" y="4892040"/>
            <a:ext cx="3017520" cy="365760"/>
          </a:xfrm>
          <a:prstGeom prst="rect">
            <a:avLst/>
          </a:prstGeom>
          <a:noFill/>
          <a:ln/>
        </p:spPr>
        <p:txBody>
          <a:bodyPr wrap="square" lIns="0" tIns="0" rIns="0" bIns="0" rtlCol="0" anchor="ctr"/>
          <a:lstStyle/>
          <a:p>
            <a:pPr marL="0" indent="0" algn="ctr">
              <a:buNone/>
            </a:pPr>
            <a:r>
              <a:rPr lang="en-US" sz="1500" b="1" dirty="0">
                <a:solidFill>
                  <a:srgbClr val="F3F4F6"/>
                </a:solidFill>
                <a:latin typeface="Calibri" pitchFamily="34" charset="0"/>
                <a:ea typeface="Calibri" pitchFamily="34" charset="-122"/>
                <a:cs typeface="Calibri" pitchFamily="34" charset="-120"/>
              </a:rPr>
              <a:t>Instructor</a:t>
            </a:r>
            <a:endParaRPr lang="en-US" sz="1500" dirty="0"/>
          </a:p>
        </p:txBody>
      </p:sp>
      <p:sp>
        <p:nvSpPr>
          <p:cNvPr id="20" name="Text 15"/>
          <p:cNvSpPr/>
          <p:nvPr/>
        </p:nvSpPr>
        <p:spPr>
          <a:xfrm>
            <a:off x="4678528" y="5285232"/>
            <a:ext cx="2834640" cy="640080"/>
          </a:xfrm>
          <a:prstGeom prst="rect">
            <a:avLst/>
          </a:prstGeom>
          <a:noFill/>
          <a:ln/>
        </p:spPr>
        <p:txBody>
          <a:bodyPr wrap="square" lIns="0" tIns="0" rIns="0" bIns="0" rtlCol="0" anchor="ctr"/>
          <a:lstStyle/>
          <a:p>
            <a:pPr marL="0" indent="0" algn="ctr">
              <a:lnSpc>
                <a:spcPct val="115000"/>
              </a:lnSpc>
              <a:buNone/>
            </a:pPr>
            <a:r>
              <a:rPr lang="en-US" sz="1050" dirty="0">
                <a:solidFill>
                  <a:srgbClr val="9CA3AF"/>
                </a:solidFill>
                <a:latin typeface="Calibri" pitchFamily="34" charset="0"/>
                <a:ea typeface="Calibri" pitchFamily="34" charset="-122"/>
                <a:cs typeface="Calibri" pitchFamily="34" charset="-120"/>
              </a:rPr>
              <a:t>Access scoped to teaching duties and the academic records relevant to assigned sections.</a:t>
            </a:r>
            <a:endParaRPr lang="en-US" sz="1050" dirty="0"/>
          </a:p>
        </p:txBody>
      </p:sp>
      <p:sp>
        <p:nvSpPr>
          <p:cNvPr id="21" name="Shape 16"/>
          <p:cNvSpPr/>
          <p:nvPr/>
        </p:nvSpPr>
        <p:spPr>
          <a:xfrm>
            <a:off x="6095848" y="2926080"/>
            <a:ext cx="3703320" cy="731520"/>
          </a:xfrm>
          <a:prstGeom prst="line">
            <a:avLst/>
          </a:prstGeom>
          <a:noFill/>
          <a:ln w="15875">
            <a:solidFill>
              <a:srgbClr val="373047"/>
            </a:solidFill>
            <a:prstDash val="solid"/>
          </a:ln>
        </p:spPr>
      </p:sp>
      <p:sp>
        <p:nvSpPr>
          <p:cNvPr id="22" name="Shape 17"/>
          <p:cNvSpPr/>
          <p:nvPr/>
        </p:nvSpPr>
        <p:spPr>
          <a:xfrm>
            <a:off x="8107528" y="3657600"/>
            <a:ext cx="3383280" cy="2331720"/>
          </a:xfrm>
          <a:prstGeom prst="roundRect">
            <a:avLst>
              <a:gd name="adj" fmla="val 3137"/>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3" name="Shape 18"/>
          <p:cNvSpPr/>
          <p:nvPr/>
        </p:nvSpPr>
        <p:spPr>
          <a:xfrm>
            <a:off x="9341968" y="3886200"/>
            <a:ext cx="914400" cy="914400"/>
          </a:xfrm>
          <a:prstGeom prst="ellipse">
            <a:avLst/>
          </a:prstGeom>
          <a:solidFill>
            <a:srgbClr val="8B5CF6"/>
          </a:solidFill>
          <a:ln/>
        </p:spPr>
      </p:sp>
      <p:pic>
        <p:nvPicPr>
          <p:cNvPr id="24" name="Image 3" descr="/home/claude/work/build/icons/student_white.png"/>
          <p:cNvPicPr>
            <a:picLocks noChangeAspect="1"/>
          </p:cNvPicPr>
          <p:nvPr/>
        </p:nvPicPr>
        <p:blipFill>
          <a:blip r:embed="rId6"/>
          <a:stretch>
            <a:fillRect/>
          </a:stretch>
        </p:blipFill>
        <p:spPr>
          <a:xfrm>
            <a:off x="9561424" y="4105656"/>
            <a:ext cx="475488" cy="475488"/>
          </a:xfrm>
          <a:prstGeom prst="rect">
            <a:avLst/>
          </a:prstGeom>
        </p:spPr>
      </p:pic>
      <p:sp>
        <p:nvSpPr>
          <p:cNvPr id="25" name="Text 19"/>
          <p:cNvSpPr/>
          <p:nvPr/>
        </p:nvSpPr>
        <p:spPr>
          <a:xfrm>
            <a:off x="8290408" y="4892040"/>
            <a:ext cx="3017520" cy="365760"/>
          </a:xfrm>
          <a:prstGeom prst="rect">
            <a:avLst/>
          </a:prstGeom>
          <a:noFill/>
          <a:ln/>
        </p:spPr>
        <p:txBody>
          <a:bodyPr wrap="square" lIns="0" tIns="0" rIns="0" bIns="0" rtlCol="0" anchor="ctr"/>
          <a:lstStyle/>
          <a:p>
            <a:pPr marL="0" indent="0" algn="ctr">
              <a:buNone/>
            </a:pPr>
            <a:r>
              <a:rPr lang="en-US" sz="1500" b="1" dirty="0">
                <a:solidFill>
                  <a:srgbClr val="F3F4F6"/>
                </a:solidFill>
                <a:latin typeface="Calibri" pitchFamily="34" charset="0"/>
                <a:ea typeface="Calibri" pitchFamily="34" charset="-122"/>
                <a:cs typeface="Calibri" pitchFamily="34" charset="-120"/>
              </a:rPr>
              <a:t>Student</a:t>
            </a:r>
            <a:endParaRPr lang="en-US" sz="1500" dirty="0"/>
          </a:p>
        </p:txBody>
      </p:sp>
      <p:sp>
        <p:nvSpPr>
          <p:cNvPr id="26" name="Text 20"/>
          <p:cNvSpPr/>
          <p:nvPr/>
        </p:nvSpPr>
        <p:spPr>
          <a:xfrm>
            <a:off x="8381848" y="5285232"/>
            <a:ext cx="2834640" cy="640080"/>
          </a:xfrm>
          <a:prstGeom prst="rect">
            <a:avLst/>
          </a:prstGeom>
          <a:noFill/>
          <a:ln/>
        </p:spPr>
        <p:txBody>
          <a:bodyPr wrap="square" lIns="0" tIns="0" rIns="0" bIns="0" rtlCol="0" anchor="ctr"/>
          <a:lstStyle/>
          <a:p>
            <a:pPr marL="0" indent="0" algn="ctr">
              <a:lnSpc>
                <a:spcPct val="115000"/>
              </a:lnSpc>
              <a:buNone/>
            </a:pPr>
            <a:r>
              <a:rPr lang="en-US" sz="1050" dirty="0">
                <a:solidFill>
                  <a:srgbClr val="9CA3AF"/>
                </a:solidFill>
                <a:latin typeface="Calibri" pitchFamily="34" charset="0"/>
                <a:ea typeface="Calibri" pitchFamily="34" charset="-122"/>
                <a:cs typeface="Calibri" pitchFamily="34" charset="-120"/>
              </a:rPr>
              <a:t>Personal view of academic information — a focused, self-service portal.</a:t>
            </a:r>
            <a:endParaRPr lang="en-US" sz="1050" dirty="0"/>
          </a:p>
        </p:txBody>
      </p:sp>
      <p:sp>
        <p:nvSpPr>
          <p:cNvPr id="27" name="Text 21"/>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8" name="Text 22"/>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1</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Admin Dashboard — Central Hub</a:t>
            </a:r>
            <a:endParaRPr lang="en-US" sz="3000" dirty="0"/>
          </a:p>
        </p:txBody>
      </p:sp>
      <p:sp>
        <p:nvSpPr>
          <p:cNvPr id="4" name="Text 2"/>
          <p:cNvSpPr/>
          <p:nvPr/>
        </p:nvSpPr>
        <p:spPr>
          <a:xfrm>
            <a:off x="548640" y="1417320"/>
            <a:ext cx="11094415" cy="457200"/>
          </a:xfrm>
          <a:prstGeom prst="rect">
            <a:avLst/>
          </a:prstGeom>
          <a:noFill/>
          <a:ln/>
        </p:spPr>
        <p:txBody>
          <a:bodyPr wrap="square" lIns="0" tIns="0" rIns="0" bIns="0" rtlCol="0" anchor="ctr"/>
          <a:lstStyle/>
          <a:p>
            <a:pPr marL="0" indent="0">
              <a:buNone/>
            </a:pPr>
            <a:r>
              <a:rPr lang="en-US" sz="1300" dirty="0">
                <a:solidFill>
                  <a:srgbClr val="9CA3AF"/>
                </a:solidFill>
                <a:latin typeface="Calibri" pitchFamily="34" charset="0"/>
                <a:ea typeface="Calibri" pitchFamily="34" charset="-122"/>
                <a:cs typeface="Calibri" pitchFamily="34" charset="-120"/>
              </a:rPr>
              <a:t>The Administrator dashboard is the command center of the system — a single screen that opens every management module the school needs.</a:t>
            </a:r>
            <a:endParaRPr lang="en-US" sz="1300" dirty="0"/>
          </a:p>
        </p:txBody>
      </p:sp>
      <p:sp>
        <p:nvSpPr>
          <p:cNvPr id="5" name="Shape 3"/>
          <p:cNvSpPr/>
          <p:nvPr/>
        </p:nvSpPr>
        <p:spPr>
          <a:xfrm>
            <a:off x="1051560" y="2971800"/>
            <a:ext cx="1554480" cy="1554480"/>
          </a:xfrm>
          <a:prstGeom prst="ellipse">
            <a:avLst/>
          </a:prstGeom>
          <a:solidFill>
            <a:srgbClr val="8B5CF6"/>
          </a:solidFill>
          <a:ln/>
        </p:spPr>
      </p:sp>
      <p:pic>
        <p:nvPicPr>
          <p:cNvPr id="6" name="Image 0" descr="/home/claude/work/build/icons/admin_white.png"/>
          <p:cNvPicPr>
            <a:picLocks noChangeAspect="1"/>
          </p:cNvPicPr>
          <p:nvPr/>
        </p:nvPicPr>
        <p:blipFill>
          <a:blip r:embed="rId3"/>
          <a:stretch>
            <a:fillRect/>
          </a:stretch>
        </p:blipFill>
        <p:spPr>
          <a:xfrm>
            <a:off x="1440180" y="3360420"/>
            <a:ext cx="777240" cy="777240"/>
          </a:xfrm>
          <a:prstGeom prst="rect">
            <a:avLst/>
          </a:prstGeom>
        </p:spPr>
      </p:pic>
      <p:sp>
        <p:nvSpPr>
          <p:cNvPr id="7" name="Text 4"/>
          <p:cNvSpPr/>
          <p:nvPr/>
        </p:nvSpPr>
        <p:spPr>
          <a:xfrm>
            <a:off x="777240" y="4526280"/>
            <a:ext cx="2103120" cy="548640"/>
          </a:xfrm>
          <a:prstGeom prst="rect">
            <a:avLst/>
          </a:prstGeom>
          <a:noFill/>
          <a:ln/>
        </p:spPr>
        <p:txBody>
          <a:bodyPr wrap="square" lIns="0" tIns="0" rIns="0" bIns="0" rtlCol="0" anchor="ctr"/>
          <a:lstStyle/>
          <a:p>
            <a:pPr marL="0" indent="0" algn="ctr">
              <a:buNone/>
            </a:pPr>
            <a:r>
              <a:rPr lang="en-US" sz="1200" b="1" dirty="0">
                <a:solidFill>
                  <a:srgbClr val="F3F4F6"/>
                </a:solidFill>
                <a:latin typeface="Calibri" pitchFamily="34" charset="0"/>
                <a:ea typeface="Calibri" pitchFamily="34" charset="-122"/>
                <a:cs typeface="Calibri" pitchFamily="34" charset="-120"/>
              </a:rPr>
              <a:t>ADMIN</a:t>
            </a:r>
            <a:endParaRPr lang="en-US" sz="1200" dirty="0"/>
          </a:p>
          <a:p>
            <a:pPr marL="0" indent="0" algn="ctr">
              <a:buNone/>
            </a:pPr>
            <a:r>
              <a:rPr lang="en-US" sz="1200" b="1" dirty="0">
                <a:solidFill>
                  <a:srgbClr val="F3F4F6"/>
                </a:solidFill>
                <a:latin typeface="Calibri" pitchFamily="34" charset="0"/>
                <a:ea typeface="Calibri" pitchFamily="34" charset="-122"/>
                <a:cs typeface="Calibri" pitchFamily="34" charset="-120"/>
              </a:rPr>
              <a:t>DASHBOARD</a:t>
            </a:r>
            <a:endParaRPr lang="en-US" sz="1200" dirty="0"/>
          </a:p>
        </p:txBody>
      </p:sp>
      <p:sp>
        <p:nvSpPr>
          <p:cNvPr id="8" name="Shape 5"/>
          <p:cNvSpPr/>
          <p:nvPr/>
        </p:nvSpPr>
        <p:spPr>
          <a:xfrm>
            <a:off x="2743200" y="3749040"/>
            <a:ext cx="1371600" cy="1394460"/>
          </a:xfrm>
          <a:prstGeom prst="line">
            <a:avLst/>
          </a:prstGeom>
          <a:noFill/>
          <a:ln w="12700">
            <a:solidFill>
              <a:srgbClr val="373047"/>
            </a:solidFill>
            <a:prstDash val="solid"/>
          </a:ln>
        </p:spPr>
      </p:sp>
      <p:sp>
        <p:nvSpPr>
          <p:cNvPr id="9" name="Shape 6"/>
          <p:cNvSpPr/>
          <p:nvPr/>
        </p:nvSpPr>
        <p:spPr>
          <a:xfrm>
            <a:off x="4114800" y="1783080"/>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0" name="Shape 7"/>
          <p:cNvSpPr/>
          <p:nvPr/>
        </p:nvSpPr>
        <p:spPr>
          <a:xfrm>
            <a:off x="4709160" y="1897380"/>
            <a:ext cx="594360" cy="594360"/>
          </a:xfrm>
          <a:prstGeom prst="ellipse">
            <a:avLst/>
          </a:prstGeom>
          <a:solidFill>
            <a:srgbClr val="10B981"/>
          </a:solidFill>
          <a:ln/>
        </p:spPr>
      </p:sp>
      <p:pic>
        <p:nvPicPr>
          <p:cNvPr id="11" name="Image 1" descr="/home/claude/work/build/icons/student_white.png"/>
          <p:cNvPicPr>
            <a:picLocks noChangeAspect="1"/>
          </p:cNvPicPr>
          <p:nvPr/>
        </p:nvPicPr>
        <p:blipFill>
          <a:blip r:embed="rId4"/>
          <a:stretch>
            <a:fillRect/>
          </a:stretch>
        </p:blipFill>
        <p:spPr>
          <a:xfrm>
            <a:off x="4842891" y="2031111"/>
            <a:ext cx="326898" cy="326898"/>
          </a:xfrm>
          <a:prstGeom prst="rect">
            <a:avLst/>
          </a:prstGeom>
        </p:spPr>
      </p:pic>
      <p:sp>
        <p:nvSpPr>
          <p:cNvPr id="12" name="Text 8"/>
          <p:cNvSpPr/>
          <p:nvPr/>
        </p:nvSpPr>
        <p:spPr>
          <a:xfrm>
            <a:off x="4160520" y="2514600"/>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Student</a:t>
            </a:r>
            <a:endParaRPr lang="en-US" sz="1100" dirty="0"/>
          </a:p>
        </p:txBody>
      </p:sp>
      <p:sp>
        <p:nvSpPr>
          <p:cNvPr id="13" name="Shape 9"/>
          <p:cNvSpPr/>
          <p:nvPr/>
        </p:nvSpPr>
        <p:spPr>
          <a:xfrm>
            <a:off x="2743200" y="3749040"/>
            <a:ext cx="3355848" cy="1394460"/>
          </a:xfrm>
          <a:prstGeom prst="line">
            <a:avLst/>
          </a:prstGeom>
          <a:noFill/>
          <a:ln w="12700">
            <a:solidFill>
              <a:srgbClr val="373047"/>
            </a:solidFill>
            <a:prstDash val="solid"/>
          </a:ln>
        </p:spPr>
      </p:sp>
      <p:sp>
        <p:nvSpPr>
          <p:cNvPr id="14" name="Shape 10"/>
          <p:cNvSpPr/>
          <p:nvPr/>
        </p:nvSpPr>
        <p:spPr>
          <a:xfrm>
            <a:off x="6099048" y="1783080"/>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5" name="Shape 11"/>
          <p:cNvSpPr/>
          <p:nvPr/>
        </p:nvSpPr>
        <p:spPr>
          <a:xfrm>
            <a:off x="6693408" y="1897380"/>
            <a:ext cx="594360" cy="594360"/>
          </a:xfrm>
          <a:prstGeom prst="ellipse">
            <a:avLst/>
          </a:prstGeom>
          <a:solidFill>
            <a:srgbClr val="8B5CF6"/>
          </a:solidFill>
          <a:ln/>
        </p:spPr>
      </p:sp>
      <p:pic>
        <p:nvPicPr>
          <p:cNvPr id="16" name="Image 2" descr="/home/claude/work/build/icons/instructor_white.png"/>
          <p:cNvPicPr>
            <a:picLocks noChangeAspect="1"/>
          </p:cNvPicPr>
          <p:nvPr/>
        </p:nvPicPr>
        <p:blipFill>
          <a:blip r:embed="rId5"/>
          <a:stretch>
            <a:fillRect/>
          </a:stretch>
        </p:blipFill>
        <p:spPr>
          <a:xfrm>
            <a:off x="6827139" y="2031111"/>
            <a:ext cx="326898" cy="326898"/>
          </a:xfrm>
          <a:prstGeom prst="rect">
            <a:avLst/>
          </a:prstGeom>
        </p:spPr>
      </p:pic>
      <p:sp>
        <p:nvSpPr>
          <p:cNvPr id="17" name="Text 12"/>
          <p:cNvSpPr/>
          <p:nvPr/>
        </p:nvSpPr>
        <p:spPr>
          <a:xfrm>
            <a:off x="6144768" y="2514600"/>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Instructor</a:t>
            </a:r>
            <a:endParaRPr lang="en-US" sz="1100" dirty="0"/>
          </a:p>
        </p:txBody>
      </p:sp>
      <p:sp>
        <p:nvSpPr>
          <p:cNvPr id="18" name="Shape 13"/>
          <p:cNvSpPr/>
          <p:nvPr/>
        </p:nvSpPr>
        <p:spPr>
          <a:xfrm>
            <a:off x="2743200" y="3749040"/>
            <a:ext cx="5340096" cy="1394460"/>
          </a:xfrm>
          <a:prstGeom prst="line">
            <a:avLst/>
          </a:prstGeom>
          <a:noFill/>
          <a:ln w="12700">
            <a:solidFill>
              <a:srgbClr val="373047"/>
            </a:solidFill>
            <a:prstDash val="solid"/>
          </a:ln>
        </p:spPr>
      </p:sp>
      <p:sp>
        <p:nvSpPr>
          <p:cNvPr id="19" name="Shape 14"/>
          <p:cNvSpPr/>
          <p:nvPr/>
        </p:nvSpPr>
        <p:spPr>
          <a:xfrm>
            <a:off x="8083296" y="1783080"/>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0" name="Shape 15"/>
          <p:cNvSpPr/>
          <p:nvPr/>
        </p:nvSpPr>
        <p:spPr>
          <a:xfrm>
            <a:off x="8677656" y="1897380"/>
            <a:ext cx="594360" cy="594360"/>
          </a:xfrm>
          <a:prstGeom prst="ellipse">
            <a:avLst/>
          </a:prstGeom>
          <a:solidFill>
            <a:srgbClr val="10B981"/>
          </a:solidFill>
          <a:ln/>
        </p:spPr>
      </p:sp>
      <p:pic>
        <p:nvPicPr>
          <p:cNvPr id="21" name="Image 3" descr="/home/claude/work/build/icons/building_white.png"/>
          <p:cNvPicPr>
            <a:picLocks noChangeAspect="1"/>
          </p:cNvPicPr>
          <p:nvPr/>
        </p:nvPicPr>
        <p:blipFill>
          <a:blip r:embed="rId6"/>
          <a:stretch>
            <a:fillRect/>
          </a:stretch>
        </p:blipFill>
        <p:spPr>
          <a:xfrm>
            <a:off x="8811387" y="2031111"/>
            <a:ext cx="326898" cy="326898"/>
          </a:xfrm>
          <a:prstGeom prst="rect">
            <a:avLst/>
          </a:prstGeom>
        </p:spPr>
      </p:pic>
      <p:sp>
        <p:nvSpPr>
          <p:cNvPr id="22" name="Text 16"/>
          <p:cNvSpPr/>
          <p:nvPr/>
        </p:nvSpPr>
        <p:spPr>
          <a:xfrm>
            <a:off x="8129016" y="2514600"/>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Department</a:t>
            </a:r>
            <a:endParaRPr lang="en-US" sz="1100" dirty="0"/>
          </a:p>
        </p:txBody>
      </p:sp>
      <p:sp>
        <p:nvSpPr>
          <p:cNvPr id="23" name="Shape 17"/>
          <p:cNvSpPr/>
          <p:nvPr/>
        </p:nvSpPr>
        <p:spPr>
          <a:xfrm>
            <a:off x="2743200" y="3749040"/>
            <a:ext cx="7324344" cy="1394460"/>
          </a:xfrm>
          <a:prstGeom prst="line">
            <a:avLst/>
          </a:prstGeom>
          <a:noFill/>
          <a:ln w="12700">
            <a:solidFill>
              <a:srgbClr val="373047"/>
            </a:solidFill>
            <a:prstDash val="solid"/>
          </a:ln>
        </p:spPr>
      </p:sp>
      <p:sp>
        <p:nvSpPr>
          <p:cNvPr id="24" name="Shape 18"/>
          <p:cNvSpPr/>
          <p:nvPr/>
        </p:nvSpPr>
        <p:spPr>
          <a:xfrm>
            <a:off x="10067544" y="1783080"/>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5" name="Shape 19"/>
          <p:cNvSpPr/>
          <p:nvPr/>
        </p:nvSpPr>
        <p:spPr>
          <a:xfrm>
            <a:off x="10661904" y="1897380"/>
            <a:ext cx="594360" cy="594360"/>
          </a:xfrm>
          <a:prstGeom prst="ellipse">
            <a:avLst/>
          </a:prstGeom>
          <a:solidFill>
            <a:srgbClr val="8B5CF6"/>
          </a:solidFill>
          <a:ln/>
        </p:spPr>
      </p:sp>
      <p:pic>
        <p:nvPicPr>
          <p:cNvPr id="26" name="Image 4" descr="/home/claude/work/build/icons/course_white.png"/>
          <p:cNvPicPr>
            <a:picLocks noChangeAspect="1"/>
          </p:cNvPicPr>
          <p:nvPr/>
        </p:nvPicPr>
        <p:blipFill>
          <a:blip r:embed="rId7"/>
          <a:stretch>
            <a:fillRect/>
          </a:stretch>
        </p:blipFill>
        <p:spPr>
          <a:xfrm>
            <a:off x="10795635" y="2031111"/>
            <a:ext cx="326898" cy="326898"/>
          </a:xfrm>
          <a:prstGeom prst="rect">
            <a:avLst/>
          </a:prstGeom>
        </p:spPr>
      </p:pic>
      <p:sp>
        <p:nvSpPr>
          <p:cNvPr id="27" name="Text 20"/>
          <p:cNvSpPr/>
          <p:nvPr/>
        </p:nvSpPr>
        <p:spPr>
          <a:xfrm>
            <a:off x="10113264" y="2514600"/>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Course</a:t>
            </a:r>
            <a:endParaRPr lang="en-US" sz="1100" dirty="0"/>
          </a:p>
        </p:txBody>
      </p:sp>
      <p:sp>
        <p:nvSpPr>
          <p:cNvPr id="28" name="Shape 21"/>
          <p:cNvSpPr/>
          <p:nvPr/>
        </p:nvSpPr>
        <p:spPr>
          <a:xfrm>
            <a:off x="2743200" y="3749040"/>
            <a:ext cx="1371600" cy="50292"/>
          </a:xfrm>
          <a:prstGeom prst="line">
            <a:avLst/>
          </a:prstGeom>
          <a:noFill/>
          <a:ln w="12700">
            <a:solidFill>
              <a:srgbClr val="373047"/>
            </a:solidFill>
            <a:prstDash val="solid"/>
          </a:ln>
        </p:spPr>
      </p:sp>
      <p:sp>
        <p:nvSpPr>
          <p:cNvPr id="29" name="Shape 22"/>
          <p:cNvSpPr/>
          <p:nvPr/>
        </p:nvSpPr>
        <p:spPr>
          <a:xfrm>
            <a:off x="4114800" y="3127248"/>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30" name="Shape 23"/>
          <p:cNvSpPr/>
          <p:nvPr/>
        </p:nvSpPr>
        <p:spPr>
          <a:xfrm>
            <a:off x="4709160" y="3241548"/>
            <a:ext cx="594360" cy="594360"/>
          </a:xfrm>
          <a:prstGeom prst="ellipse">
            <a:avLst/>
          </a:prstGeom>
          <a:solidFill>
            <a:srgbClr val="10B981"/>
          </a:solidFill>
          <a:ln/>
        </p:spPr>
      </p:sp>
      <p:pic>
        <p:nvPicPr>
          <p:cNvPr id="31" name="Image 5" descr="/home/claude/work/build/icons/enrollment_white.png"/>
          <p:cNvPicPr>
            <a:picLocks noChangeAspect="1"/>
          </p:cNvPicPr>
          <p:nvPr/>
        </p:nvPicPr>
        <p:blipFill>
          <a:blip r:embed="rId8"/>
          <a:stretch>
            <a:fillRect/>
          </a:stretch>
        </p:blipFill>
        <p:spPr>
          <a:xfrm>
            <a:off x="4842891" y="3375279"/>
            <a:ext cx="326898" cy="326898"/>
          </a:xfrm>
          <a:prstGeom prst="rect">
            <a:avLst/>
          </a:prstGeom>
        </p:spPr>
      </p:pic>
      <p:sp>
        <p:nvSpPr>
          <p:cNvPr id="32" name="Text 24"/>
          <p:cNvSpPr/>
          <p:nvPr/>
        </p:nvSpPr>
        <p:spPr>
          <a:xfrm>
            <a:off x="4160520" y="3858768"/>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Enrollment</a:t>
            </a:r>
            <a:endParaRPr lang="en-US" sz="1100" dirty="0"/>
          </a:p>
        </p:txBody>
      </p:sp>
      <p:sp>
        <p:nvSpPr>
          <p:cNvPr id="33" name="Shape 25"/>
          <p:cNvSpPr/>
          <p:nvPr/>
        </p:nvSpPr>
        <p:spPr>
          <a:xfrm>
            <a:off x="2743200" y="3749040"/>
            <a:ext cx="3355848" cy="50292"/>
          </a:xfrm>
          <a:prstGeom prst="line">
            <a:avLst/>
          </a:prstGeom>
          <a:noFill/>
          <a:ln w="12700">
            <a:solidFill>
              <a:srgbClr val="373047"/>
            </a:solidFill>
            <a:prstDash val="solid"/>
          </a:ln>
        </p:spPr>
      </p:sp>
      <p:sp>
        <p:nvSpPr>
          <p:cNvPr id="34" name="Shape 26"/>
          <p:cNvSpPr/>
          <p:nvPr/>
        </p:nvSpPr>
        <p:spPr>
          <a:xfrm>
            <a:off x="6099048" y="3127248"/>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35" name="Shape 27"/>
          <p:cNvSpPr/>
          <p:nvPr/>
        </p:nvSpPr>
        <p:spPr>
          <a:xfrm>
            <a:off x="6693408" y="3241548"/>
            <a:ext cx="594360" cy="594360"/>
          </a:xfrm>
          <a:prstGeom prst="ellipse">
            <a:avLst/>
          </a:prstGeom>
          <a:solidFill>
            <a:srgbClr val="8B5CF6"/>
          </a:solidFill>
          <a:ln/>
        </p:spPr>
      </p:sp>
      <p:pic>
        <p:nvPicPr>
          <p:cNvPr id="36" name="Image 6" descr="/home/claude/work/build/icons/schedule_white.png"/>
          <p:cNvPicPr>
            <a:picLocks noChangeAspect="1"/>
          </p:cNvPicPr>
          <p:nvPr/>
        </p:nvPicPr>
        <p:blipFill>
          <a:blip r:embed="rId9"/>
          <a:stretch>
            <a:fillRect/>
          </a:stretch>
        </p:blipFill>
        <p:spPr>
          <a:xfrm>
            <a:off x="6827139" y="3375279"/>
            <a:ext cx="326898" cy="326898"/>
          </a:xfrm>
          <a:prstGeom prst="rect">
            <a:avLst/>
          </a:prstGeom>
        </p:spPr>
      </p:pic>
      <p:sp>
        <p:nvSpPr>
          <p:cNvPr id="37" name="Text 28"/>
          <p:cNvSpPr/>
          <p:nvPr/>
        </p:nvSpPr>
        <p:spPr>
          <a:xfrm>
            <a:off x="6144768" y="3858768"/>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Scheduling</a:t>
            </a:r>
            <a:endParaRPr lang="en-US" sz="1100" dirty="0"/>
          </a:p>
        </p:txBody>
      </p:sp>
      <p:sp>
        <p:nvSpPr>
          <p:cNvPr id="38" name="Shape 29"/>
          <p:cNvSpPr/>
          <p:nvPr/>
        </p:nvSpPr>
        <p:spPr>
          <a:xfrm>
            <a:off x="2743200" y="3749040"/>
            <a:ext cx="5340096" cy="50292"/>
          </a:xfrm>
          <a:prstGeom prst="line">
            <a:avLst/>
          </a:prstGeom>
          <a:noFill/>
          <a:ln w="12700">
            <a:solidFill>
              <a:srgbClr val="373047"/>
            </a:solidFill>
            <a:prstDash val="solid"/>
          </a:ln>
        </p:spPr>
      </p:sp>
      <p:sp>
        <p:nvSpPr>
          <p:cNvPr id="39" name="Shape 30"/>
          <p:cNvSpPr/>
          <p:nvPr/>
        </p:nvSpPr>
        <p:spPr>
          <a:xfrm>
            <a:off x="8083296" y="3127248"/>
            <a:ext cx="1783080" cy="1143000"/>
          </a:xfrm>
          <a:prstGeom prst="roundRect">
            <a:avLst>
              <a:gd name="adj" fmla="val 64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40" name="Shape 31"/>
          <p:cNvSpPr/>
          <p:nvPr/>
        </p:nvSpPr>
        <p:spPr>
          <a:xfrm>
            <a:off x="8677656" y="3241548"/>
            <a:ext cx="594360" cy="594360"/>
          </a:xfrm>
          <a:prstGeom prst="ellipse">
            <a:avLst/>
          </a:prstGeom>
          <a:solidFill>
            <a:srgbClr val="10B981"/>
          </a:solidFill>
          <a:ln/>
        </p:spPr>
      </p:sp>
      <p:pic>
        <p:nvPicPr>
          <p:cNvPr id="41" name="Image 7" descr="/home/claude/work/build/icons/chart_white.png"/>
          <p:cNvPicPr>
            <a:picLocks noChangeAspect="1"/>
          </p:cNvPicPr>
          <p:nvPr/>
        </p:nvPicPr>
        <p:blipFill>
          <a:blip r:embed="rId10"/>
          <a:stretch>
            <a:fillRect/>
          </a:stretch>
        </p:blipFill>
        <p:spPr>
          <a:xfrm>
            <a:off x="8811387" y="3375279"/>
            <a:ext cx="326898" cy="326898"/>
          </a:xfrm>
          <a:prstGeom prst="rect">
            <a:avLst/>
          </a:prstGeom>
        </p:spPr>
      </p:pic>
      <p:sp>
        <p:nvSpPr>
          <p:cNvPr id="42" name="Text 32"/>
          <p:cNvSpPr/>
          <p:nvPr/>
        </p:nvSpPr>
        <p:spPr>
          <a:xfrm>
            <a:off x="8129016" y="3858768"/>
            <a:ext cx="1691640" cy="365760"/>
          </a:xfrm>
          <a:prstGeom prst="rect">
            <a:avLst/>
          </a:prstGeom>
          <a:noFill/>
          <a:ln/>
        </p:spPr>
        <p:txBody>
          <a:bodyPr wrap="square" lIns="0" tIns="0" rIns="0" bIns="0" rtlCol="0" anchor="ctr"/>
          <a:lstStyle/>
          <a:p>
            <a:pPr marL="0" indent="0" algn="ctr">
              <a:buNone/>
            </a:pPr>
            <a:r>
              <a:rPr lang="en-US" sz="1100" b="1" dirty="0">
                <a:solidFill>
                  <a:srgbClr val="F3F4F6"/>
                </a:solidFill>
                <a:latin typeface="Calibri" pitchFamily="34" charset="0"/>
                <a:ea typeface="Calibri" pitchFamily="34" charset="-122"/>
                <a:cs typeface="Calibri" pitchFamily="34" charset="-120"/>
              </a:rPr>
              <a:t>Reports</a:t>
            </a:r>
            <a:endParaRPr lang="en-US" sz="1100" dirty="0"/>
          </a:p>
        </p:txBody>
      </p:sp>
      <p:sp>
        <p:nvSpPr>
          <p:cNvPr id="43" name="Text 33"/>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44" name="Text 34"/>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2</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Student &amp; Instructor Management</a:t>
            </a:r>
            <a:endParaRPr lang="en-US" sz="3000" dirty="0"/>
          </a:p>
        </p:txBody>
      </p:sp>
      <p:sp>
        <p:nvSpPr>
          <p:cNvPr id="4" name="Shape 2"/>
          <p:cNvSpPr/>
          <p:nvPr/>
        </p:nvSpPr>
        <p:spPr>
          <a:xfrm>
            <a:off x="548640" y="1554480"/>
            <a:ext cx="5394960" cy="4572000"/>
          </a:xfrm>
          <a:prstGeom prst="roundRect">
            <a:avLst>
              <a:gd name="adj" fmla="val 16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5" name="Shape 3"/>
          <p:cNvSpPr/>
          <p:nvPr/>
        </p:nvSpPr>
        <p:spPr>
          <a:xfrm>
            <a:off x="800100" y="1805940"/>
            <a:ext cx="868680" cy="868680"/>
          </a:xfrm>
          <a:prstGeom prst="ellipse">
            <a:avLst/>
          </a:prstGeom>
          <a:solidFill>
            <a:srgbClr val="8B5CF6"/>
          </a:solidFill>
          <a:ln/>
        </p:spPr>
      </p:sp>
      <p:pic>
        <p:nvPicPr>
          <p:cNvPr id="6" name="Image 0" descr="/home/claude/work/build/icons/student_white.png"/>
          <p:cNvPicPr>
            <a:picLocks noChangeAspect="1"/>
          </p:cNvPicPr>
          <p:nvPr/>
        </p:nvPicPr>
        <p:blipFill>
          <a:blip r:embed="rId3"/>
          <a:stretch>
            <a:fillRect/>
          </a:stretch>
        </p:blipFill>
        <p:spPr>
          <a:xfrm>
            <a:off x="1008583" y="2014423"/>
            <a:ext cx="451714" cy="451714"/>
          </a:xfrm>
          <a:prstGeom prst="rect">
            <a:avLst/>
          </a:prstGeom>
        </p:spPr>
      </p:pic>
      <p:sp>
        <p:nvSpPr>
          <p:cNvPr id="7" name="Text 4"/>
          <p:cNvSpPr/>
          <p:nvPr/>
        </p:nvSpPr>
        <p:spPr>
          <a:xfrm>
            <a:off x="1874520" y="1874520"/>
            <a:ext cx="3840480" cy="457200"/>
          </a:xfrm>
          <a:prstGeom prst="rect">
            <a:avLst/>
          </a:prstGeom>
          <a:noFill/>
          <a:ln/>
        </p:spPr>
        <p:txBody>
          <a:bodyPr wrap="square" lIns="0" tIns="0" rIns="0" bIns="0" rtlCol="0" anchor="ctr"/>
          <a:lstStyle/>
          <a:p>
            <a:pPr marL="0" indent="0">
              <a:buNone/>
            </a:pPr>
            <a:r>
              <a:rPr lang="en-US" sz="1700" b="1" dirty="0">
                <a:solidFill>
                  <a:srgbClr val="F3F4F6"/>
                </a:solidFill>
                <a:latin typeface="Calibri" pitchFamily="34" charset="0"/>
                <a:ea typeface="Calibri" pitchFamily="34" charset="-122"/>
                <a:cs typeface="Calibri" pitchFamily="34" charset="-120"/>
              </a:rPr>
              <a:t>Student Records</a:t>
            </a:r>
            <a:endParaRPr lang="en-US" sz="1700" dirty="0"/>
          </a:p>
        </p:txBody>
      </p:sp>
      <p:sp>
        <p:nvSpPr>
          <p:cNvPr id="8" name="Text 5"/>
          <p:cNvSpPr/>
          <p:nvPr/>
        </p:nvSpPr>
        <p:spPr>
          <a:xfrm>
            <a:off x="914400" y="2926080"/>
            <a:ext cx="4663440" cy="274320"/>
          </a:xfrm>
          <a:prstGeom prst="rect">
            <a:avLst/>
          </a:prstGeom>
          <a:noFill/>
          <a:ln/>
        </p:spPr>
        <p:txBody>
          <a:bodyPr wrap="square" lIns="0" tIns="0" rIns="0" bIns="0" rtlCol="0" anchor="ctr"/>
          <a:lstStyle/>
          <a:p>
            <a:pPr marL="0" indent="0">
              <a:buNone/>
            </a:pPr>
            <a:r>
              <a:rPr lang="en-US" sz="1150" b="1" kern="0" spc="100" dirty="0">
                <a:solidFill>
                  <a:srgbClr val="8B5CF6"/>
                </a:solidFill>
                <a:latin typeface="Calibri" pitchFamily="34" charset="0"/>
                <a:ea typeface="Calibri" pitchFamily="34" charset="-122"/>
                <a:cs typeface="Calibri" pitchFamily="34" charset="-120"/>
              </a:rPr>
              <a:t>Fields</a:t>
            </a:r>
            <a:endParaRPr lang="en-US" sz="1150" dirty="0"/>
          </a:p>
        </p:txBody>
      </p:sp>
      <p:sp>
        <p:nvSpPr>
          <p:cNvPr id="9" name="Text 6"/>
          <p:cNvSpPr/>
          <p:nvPr/>
        </p:nvSpPr>
        <p:spPr>
          <a:xfrm>
            <a:off x="914400" y="3246120"/>
            <a:ext cx="4663440" cy="100584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ID, Name, Department, Total Credits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Linked Advisor &amp; Department</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Enrollment history (via “takes”)</a:t>
            </a:r>
            <a:endParaRPr lang="en-US" sz="1150" dirty="0"/>
          </a:p>
        </p:txBody>
      </p:sp>
      <p:sp>
        <p:nvSpPr>
          <p:cNvPr id="10" name="Text 7"/>
          <p:cNvSpPr/>
          <p:nvPr/>
        </p:nvSpPr>
        <p:spPr>
          <a:xfrm>
            <a:off x="914400" y="4343400"/>
            <a:ext cx="4663440" cy="274320"/>
          </a:xfrm>
          <a:prstGeom prst="rect">
            <a:avLst/>
          </a:prstGeom>
          <a:noFill/>
          <a:ln/>
        </p:spPr>
        <p:txBody>
          <a:bodyPr wrap="square" lIns="0" tIns="0" rIns="0" bIns="0" rtlCol="0" anchor="ctr"/>
          <a:lstStyle/>
          <a:p>
            <a:pPr marL="0" indent="0">
              <a:buNone/>
            </a:pPr>
            <a:r>
              <a:rPr lang="en-US" sz="1150" b="1" kern="0" spc="100" dirty="0">
                <a:solidFill>
                  <a:srgbClr val="8B5CF6"/>
                </a:solidFill>
                <a:latin typeface="Calibri" pitchFamily="34" charset="0"/>
                <a:ea typeface="Calibri" pitchFamily="34" charset="-122"/>
                <a:cs typeface="Calibri" pitchFamily="34" charset="-120"/>
              </a:rPr>
              <a:t>Built-in Validation</a:t>
            </a:r>
            <a:endParaRPr lang="en-US" sz="1150" dirty="0"/>
          </a:p>
        </p:txBody>
      </p:sp>
      <p:sp>
        <p:nvSpPr>
          <p:cNvPr id="11" name="Text 8"/>
          <p:cNvSpPr/>
          <p:nvPr/>
        </p:nvSpPr>
        <p:spPr>
          <a:xfrm>
            <a:off x="914400" y="4663440"/>
            <a:ext cx="4663440" cy="128016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Rejects entries with a missing ID, name, or department</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Confirms the department exists before saving</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Blocks duplicate student IDs</a:t>
            </a:r>
            <a:endParaRPr lang="en-US" sz="1150" dirty="0"/>
          </a:p>
        </p:txBody>
      </p:sp>
      <p:sp>
        <p:nvSpPr>
          <p:cNvPr id="12" name="Shape 9"/>
          <p:cNvSpPr/>
          <p:nvPr/>
        </p:nvSpPr>
        <p:spPr>
          <a:xfrm>
            <a:off x="6263640" y="1554480"/>
            <a:ext cx="5394960" cy="4572000"/>
          </a:xfrm>
          <a:prstGeom prst="roundRect">
            <a:avLst>
              <a:gd name="adj" fmla="val 16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3" name="Shape 10"/>
          <p:cNvSpPr/>
          <p:nvPr/>
        </p:nvSpPr>
        <p:spPr>
          <a:xfrm>
            <a:off x="6515100" y="1805940"/>
            <a:ext cx="868680" cy="868680"/>
          </a:xfrm>
          <a:prstGeom prst="ellipse">
            <a:avLst/>
          </a:prstGeom>
          <a:solidFill>
            <a:srgbClr val="10B981"/>
          </a:solidFill>
          <a:ln/>
        </p:spPr>
      </p:sp>
      <p:pic>
        <p:nvPicPr>
          <p:cNvPr id="14" name="Image 1" descr="/home/claude/work/build/icons/instructor_white.png"/>
          <p:cNvPicPr>
            <a:picLocks noChangeAspect="1"/>
          </p:cNvPicPr>
          <p:nvPr/>
        </p:nvPicPr>
        <p:blipFill>
          <a:blip r:embed="rId4"/>
          <a:stretch>
            <a:fillRect/>
          </a:stretch>
        </p:blipFill>
        <p:spPr>
          <a:xfrm>
            <a:off x="6723583" y="2014423"/>
            <a:ext cx="451714" cy="451714"/>
          </a:xfrm>
          <a:prstGeom prst="rect">
            <a:avLst/>
          </a:prstGeom>
        </p:spPr>
      </p:pic>
      <p:sp>
        <p:nvSpPr>
          <p:cNvPr id="15" name="Text 11"/>
          <p:cNvSpPr/>
          <p:nvPr/>
        </p:nvSpPr>
        <p:spPr>
          <a:xfrm>
            <a:off x="7589520" y="1874520"/>
            <a:ext cx="3840480" cy="457200"/>
          </a:xfrm>
          <a:prstGeom prst="rect">
            <a:avLst/>
          </a:prstGeom>
          <a:noFill/>
          <a:ln/>
        </p:spPr>
        <p:txBody>
          <a:bodyPr wrap="square" lIns="0" tIns="0" rIns="0" bIns="0" rtlCol="0" anchor="ctr"/>
          <a:lstStyle/>
          <a:p>
            <a:pPr marL="0" indent="0">
              <a:buNone/>
            </a:pPr>
            <a:r>
              <a:rPr lang="en-US" sz="1700" b="1" dirty="0">
                <a:solidFill>
                  <a:srgbClr val="F3F4F6"/>
                </a:solidFill>
                <a:latin typeface="Calibri" pitchFamily="34" charset="0"/>
                <a:ea typeface="Calibri" pitchFamily="34" charset="-122"/>
                <a:cs typeface="Calibri" pitchFamily="34" charset="-120"/>
              </a:rPr>
              <a:t>Instructor Records</a:t>
            </a:r>
            <a:endParaRPr lang="en-US" sz="1700" dirty="0"/>
          </a:p>
        </p:txBody>
      </p:sp>
      <p:sp>
        <p:nvSpPr>
          <p:cNvPr id="16" name="Text 12"/>
          <p:cNvSpPr/>
          <p:nvPr/>
        </p:nvSpPr>
        <p:spPr>
          <a:xfrm>
            <a:off x="6629400" y="2926080"/>
            <a:ext cx="4663440" cy="274320"/>
          </a:xfrm>
          <a:prstGeom prst="rect">
            <a:avLst/>
          </a:prstGeom>
          <a:noFill/>
          <a:ln/>
        </p:spPr>
        <p:txBody>
          <a:bodyPr wrap="square" lIns="0" tIns="0" rIns="0" bIns="0" rtlCol="0" anchor="ctr"/>
          <a:lstStyle/>
          <a:p>
            <a:pPr marL="0" indent="0">
              <a:buNone/>
            </a:pPr>
            <a:r>
              <a:rPr lang="en-US" sz="1150" b="1" kern="0" spc="100" dirty="0">
                <a:solidFill>
                  <a:srgbClr val="10B981"/>
                </a:solidFill>
                <a:latin typeface="Calibri" pitchFamily="34" charset="0"/>
                <a:ea typeface="Calibri" pitchFamily="34" charset="-122"/>
                <a:cs typeface="Calibri" pitchFamily="34" charset="-120"/>
              </a:rPr>
              <a:t>Fields</a:t>
            </a:r>
            <a:endParaRPr lang="en-US" sz="1150" dirty="0"/>
          </a:p>
        </p:txBody>
      </p:sp>
      <p:sp>
        <p:nvSpPr>
          <p:cNvPr id="17" name="Text 13"/>
          <p:cNvSpPr/>
          <p:nvPr/>
        </p:nvSpPr>
        <p:spPr>
          <a:xfrm>
            <a:off x="6629400" y="3246120"/>
            <a:ext cx="4663440" cy="100584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ID, Name, Department, Salary</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Assigned course sections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Advisees (students supervised)</a:t>
            </a:r>
            <a:endParaRPr lang="en-US" sz="1150" dirty="0"/>
          </a:p>
        </p:txBody>
      </p:sp>
      <p:sp>
        <p:nvSpPr>
          <p:cNvPr id="18" name="Text 14"/>
          <p:cNvSpPr/>
          <p:nvPr/>
        </p:nvSpPr>
        <p:spPr>
          <a:xfrm>
            <a:off x="6629400" y="4343400"/>
            <a:ext cx="4663440" cy="274320"/>
          </a:xfrm>
          <a:prstGeom prst="rect">
            <a:avLst/>
          </a:prstGeom>
          <a:noFill/>
          <a:ln/>
        </p:spPr>
        <p:txBody>
          <a:bodyPr wrap="square" lIns="0" tIns="0" rIns="0" bIns="0" rtlCol="0" anchor="ctr"/>
          <a:lstStyle/>
          <a:p>
            <a:pPr marL="0" indent="0">
              <a:buNone/>
            </a:pPr>
            <a:r>
              <a:rPr lang="en-US" sz="1150" b="1" kern="0" spc="100" dirty="0">
                <a:solidFill>
                  <a:srgbClr val="10B981"/>
                </a:solidFill>
                <a:latin typeface="Calibri" pitchFamily="34" charset="0"/>
                <a:ea typeface="Calibri" pitchFamily="34" charset="-122"/>
                <a:cs typeface="Calibri" pitchFamily="34" charset="-120"/>
              </a:rPr>
              <a:t>Built-in Validation</a:t>
            </a:r>
            <a:endParaRPr lang="en-US" sz="1150" dirty="0"/>
          </a:p>
        </p:txBody>
      </p:sp>
      <p:sp>
        <p:nvSpPr>
          <p:cNvPr id="19" name="Text 15"/>
          <p:cNvSpPr/>
          <p:nvPr/>
        </p:nvSpPr>
        <p:spPr>
          <a:xfrm>
            <a:off x="6629400" y="4663440"/>
            <a:ext cx="4663440" cy="128016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Add, update, and delete with one click</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Grid view refreshes automatically after changes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Department association keeps records consistent</a:t>
            </a:r>
            <a:endParaRPr lang="en-US" sz="1150" dirty="0"/>
          </a:p>
        </p:txBody>
      </p:sp>
      <p:sp>
        <p:nvSpPr>
          <p:cNvPr id="20" name="Text 16"/>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1" name="Text 17"/>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09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3</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Course &amp; Department Management</a:t>
            </a:r>
            <a:endParaRPr lang="en-US" sz="3000" dirty="0"/>
          </a:p>
        </p:txBody>
      </p:sp>
      <p:sp>
        <p:nvSpPr>
          <p:cNvPr id="4" name="Shape 2"/>
          <p:cNvSpPr/>
          <p:nvPr/>
        </p:nvSpPr>
        <p:spPr>
          <a:xfrm>
            <a:off x="548640" y="1554480"/>
            <a:ext cx="5394960" cy="4572000"/>
          </a:xfrm>
          <a:prstGeom prst="roundRect">
            <a:avLst>
              <a:gd name="adj" fmla="val 16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5" name="Shape 3"/>
          <p:cNvSpPr/>
          <p:nvPr/>
        </p:nvSpPr>
        <p:spPr>
          <a:xfrm>
            <a:off x="800100" y="1805940"/>
            <a:ext cx="868680" cy="868680"/>
          </a:xfrm>
          <a:prstGeom prst="ellipse">
            <a:avLst/>
          </a:prstGeom>
          <a:solidFill>
            <a:srgbClr val="10B981"/>
          </a:solidFill>
          <a:ln/>
        </p:spPr>
      </p:sp>
      <p:pic>
        <p:nvPicPr>
          <p:cNvPr id="6" name="Image 0" descr="/home/claude/work/build/icons/course_white.png"/>
          <p:cNvPicPr>
            <a:picLocks noChangeAspect="1"/>
          </p:cNvPicPr>
          <p:nvPr/>
        </p:nvPicPr>
        <p:blipFill>
          <a:blip r:embed="rId3"/>
          <a:stretch>
            <a:fillRect/>
          </a:stretch>
        </p:blipFill>
        <p:spPr>
          <a:xfrm>
            <a:off x="1008583" y="2014423"/>
            <a:ext cx="451714" cy="451714"/>
          </a:xfrm>
          <a:prstGeom prst="rect">
            <a:avLst/>
          </a:prstGeom>
        </p:spPr>
      </p:pic>
      <p:sp>
        <p:nvSpPr>
          <p:cNvPr id="7" name="Text 4"/>
          <p:cNvSpPr/>
          <p:nvPr/>
        </p:nvSpPr>
        <p:spPr>
          <a:xfrm>
            <a:off x="1874520" y="1874520"/>
            <a:ext cx="3840480" cy="457200"/>
          </a:xfrm>
          <a:prstGeom prst="rect">
            <a:avLst/>
          </a:prstGeom>
          <a:noFill/>
          <a:ln/>
        </p:spPr>
        <p:txBody>
          <a:bodyPr wrap="square" lIns="0" tIns="0" rIns="0" bIns="0" rtlCol="0" anchor="ctr"/>
          <a:lstStyle/>
          <a:p>
            <a:pPr marL="0" indent="0">
              <a:buNone/>
            </a:pPr>
            <a:r>
              <a:rPr lang="en-US" sz="1700" b="1" dirty="0">
                <a:solidFill>
                  <a:srgbClr val="F3F4F6"/>
                </a:solidFill>
                <a:latin typeface="Calibri" pitchFamily="34" charset="0"/>
                <a:ea typeface="Calibri" pitchFamily="34" charset="-122"/>
                <a:cs typeface="Calibri" pitchFamily="34" charset="-120"/>
              </a:rPr>
              <a:t>Course Catalog</a:t>
            </a:r>
            <a:endParaRPr lang="en-US" sz="1700" dirty="0"/>
          </a:p>
        </p:txBody>
      </p:sp>
      <p:sp>
        <p:nvSpPr>
          <p:cNvPr id="8" name="Text 5"/>
          <p:cNvSpPr/>
          <p:nvPr/>
        </p:nvSpPr>
        <p:spPr>
          <a:xfrm>
            <a:off x="914400" y="2926080"/>
            <a:ext cx="4663440" cy="274320"/>
          </a:xfrm>
          <a:prstGeom prst="rect">
            <a:avLst/>
          </a:prstGeom>
          <a:noFill/>
          <a:ln/>
        </p:spPr>
        <p:txBody>
          <a:bodyPr wrap="square" lIns="0" tIns="0" rIns="0" bIns="0" rtlCol="0" anchor="ctr"/>
          <a:lstStyle/>
          <a:p>
            <a:pPr marL="0" indent="0">
              <a:buNone/>
            </a:pPr>
            <a:r>
              <a:rPr lang="en-US" sz="1150" b="1" kern="0" spc="100" dirty="0">
                <a:solidFill>
                  <a:srgbClr val="10B981"/>
                </a:solidFill>
                <a:latin typeface="Calibri" pitchFamily="34" charset="0"/>
                <a:ea typeface="Calibri" pitchFamily="34" charset="-122"/>
                <a:cs typeface="Calibri" pitchFamily="34" charset="-120"/>
              </a:rPr>
              <a:t>Fields</a:t>
            </a:r>
            <a:endParaRPr lang="en-US" sz="1150" dirty="0"/>
          </a:p>
        </p:txBody>
      </p:sp>
      <p:sp>
        <p:nvSpPr>
          <p:cNvPr id="9" name="Text 6"/>
          <p:cNvSpPr/>
          <p:nvPr/>
        </p:nvSpPr>
        <p:spPr>
          <a:xfrm>
            <a:off x="914400" y="3246120"/>
            <a:ext cx="4663440" cy="100584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Course ID, Title, Department, Credits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Offered through one or more sections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Linked prerequisite courses</a:t>
            </a:r>
            <a:endParaRPr lang="en-US" sz="1150" dirty="0"/>
          </a:p>
        </p:txBody>
      </p:sp>
      <p:sp>
        <p:nvSpPr>
          <p:cNvPr id="10" name="Text 7"/>
          <p:cNvSpPr/>
          <p:nvPr/>
        </p:nvSpPr>
        <p:spPr>
          <a:xfrm>
            <a:off x="914400" y="4343400"/>
            <a:ext cx="4663440" cy="274320"/>
          </a:xfrm>
          <a:prstGeom prst="rect">
            <a:avLst/>
          </a:prstGeom>
          <a:noFill/>
          <a:ln/>
        </p:spPr>
        <p:txBody>
          <a:bodyPr wrap="square" lIns="0" tIns="0" rIns="0" bIns="0" rtlCol="0" anchor="ctr"/>
          <a:lstStyle/>
          <a:p>
            <a:pPr marL="0" indent="0">
              <a:buNone/>
            </a:pPr>
            <a:r>
              <a:rPr lang="en-US" sz="1150" b="1" kern="0" spc="100" dirty="0">
                <a:solidFill>
                  <a:srgbClr val="10B981"/>
                </a:solidFill>
                <a:latin typeface="Calibri" pitchFamily="34" charset="0"/>
                <a:ea typeface="Calibri" pitchFamily="34" charset="-122"/>
                <a:cs typeface="Calibri" pitchFamily="34" charset="-120"/>
              </a:rPr>
              <a:t>Built-in Validation</a:t>
            </a:r>
            <a:endParaRPr lang="en-US" sz="1150" dirty="0"/>
          </a:p>
        </p:txBody>
      </p:sp>
      <p:sp>
        <p:nvSpPr>
          <p:cNvPr id="11" name="Text 8"/>
          <p:cNvSpPr/>
          <p:nvPr/>
        </p:nvSpPr>
        <p:spPr>
          <a:xfrm>
            <a:off x="914400" y="4663440"/>
            <a:ext cx="4663440" cy="128016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Requires a course ID before saving</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Blocks duplicate course IDs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Confirms deletion before removing a course</a:t>
            </a:r>
            <a:endParaRPr lang="en-US" sz="1150" dirty="0"/>
          </a:p>
        </p:txBody>
      </p:sp>
      <p:sp>
        <p:nvSpPr>
          <p:cNvPr id="12" name="Shape 9"/>
          <p:cNvSpPr/>
          <p:nvPr/>
        </p:nvSpPr>
        <p:spPr>
          <a:xfrm>
            <a:off x="6263640" y="1554480"/>
            <a:ext cx="5394960" cy="4572000"/>
          </a:xfrm>
          <a:prstGeom prst="roundRect">
            <a:avLst>
              <a:gd name="adj" fmla="val 16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3" name="Shape 10"/>
          <p:cNvSpPr/>
          <p:nvPr/>
        </p:nvSpPr>
        <p:spPr>
          <a:xfrm>
            <a:off x="6515100" y="1805940"/>
            <a:ext cx="868680" cy="868680"/>
          </a:xfrm>
          <a:prstGeom prst="ellipse">
            <a:avLst/>
          </a:prstGeom>
          <a:solidFill>
            <a:srgbClr val="8B5CF6"/>
          </a:solidFill>
          <a:ln/>
        </p:spPr>
      </p:sp>
      <p:pic>
        <p:nvPicPr>
          <p:cNvPr id="14" name="Image 1" descr="/home/claude/work/build/icons/building_white.png"/>
          <p:cNvPicPr>
            <a:picLocks noChangeAspect="1"/>
          </p:cNvPicPr>
          <p:nvPr/>
        </p:nvPicPr>
        <p:blipFill>
          <a:blip r:embed="rId4"/>
          <a:stretch>
            <a:fillRect/>
          </a:stretch>
        </p:blipFill>
        <p:spPr>
          <a:xfrm>
            <a:off x="6723583" y="2014423"/>
            <a:ext cx="451714" cy="451714"/>
          </a:xfrm>
          <a:prstGeom prst="rect">
            <a:avLst/>
          </a:prstGeom>
        </p:spPr>
      </p:pic>
      <p:sp>
        <p:nvSpPr>
          <p:cNvPr id="15" name="Text 11"/>
          <p:cNvSpPr/>
          <p:nvPr/>
        </p:nvSpPr>
        <p:spPr>
          <a:xfrm>
            <a:off x="7589520" y="1874520"/>
            <a:ext cx="3840480" cy="457200"/>
          </a:xfrm>
          <a:prstGeom prst="rect">
            <a:avLst/>
          </a:prstGeom>
          <a:noFill/>
          <a:ln/>
        </p:spPr>
        <p:txBody>
          <a:bodyPr wrap="square" lIns="0" tIns="0" rIns="0" bIns="0" rtlCol="0" anchor="ctr"/>
          <a:lstStyle/>
          <a:p>
            <a:pPr marL="0" indent="0">
              <a:buNone/>
            </a:pPr>
            <a:r>
              <a:rPr lang="en-US" sz="1700" b="1" dirty="0">
                <a:solidFill>
                  <a:srgbClr val="F3F4F6"/>
                </a:solidFill>
                <a:latin typeface="Calibri" pitchFamily="34" charset="0"/>
                <a:ea typeface="Calibri" pitchFamily="34" charset="-122"/>
                <a:cs typeface="Calibri" pitchFamily="34" charset="-120"/>
              </a:rPr>
              <a:t>Department Records</a:t>
            </a:r>
            <a:endParaRPr lang="en-US" sz="1700" dirty="0"/>
          </a:p>
        </p:txBody>
      </p:sp>
      <p:sp>
        <p:nvSpPr>
          <p:cNvPr id="16" name="Text 12"/>
          <p:cNvSpPr/>
          <p:nvPr/>
        </p:nvSpPr>
        <p:spPr>
          <a:xfrm>
            <a:off x="6629400" y="2926080"/>
            <a:ext cx="4663440" cy="274320"/>
          </a:xfrm>
          <a:prstGeom prst="rect">
            <a:avLst/>
          </a:prstGeom>
          <a:noFill/>
          <a:ln/>
        </p:spPr>
        <p:txBody>
          <a:bodyPr wrap="square" lIns="0" tIns="0" rIns="0" bIns="0" rtlCol="0" anchor="ctr"/>
          <a:lstStyle/>
          <a:p>
            <a:pPr marL="0" indent="0">
              <a:buNone/>
            </a:pPr>
            <a:r>
              <a:rPr lang="en-US" sz="1150" b="1" kern="0" spc="100" dirty="0">
                <a:solidFill>
                  <a:srgbClr val="8B5CF6"/>
                </a:solidFill>
                <a:latin typeface="Calibri" pitchFamily="34" charset="0"/>
                <a:ea typeface="Calibri" pitchFamily="34" charset="-122"/>
                <a:cs typeface="Calibri" pitchFamily="34" charset="-120"/>
              </a:rPr>
              <a:t>Fields</a:t>
            </a:r>
            <a:endParaRPr lang="en-US" sz="1150" dirty="0"/>
          </a:p>
        </p:txBody>
      </p:sp>
      <p:sp>
        <p:nvSpPr>
          <p:cNvPr id="17" name="Text 13"/>
          <p:cNvSpPr/>
          <p:nvPr/>
        </p:nvSpPr>
        <p:spPr>
          <a:xfrm>
            <a:off x="6629400" y="3246120"/>
            <a:ext cx="4663440" cy="100584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Department Name, Building, Budget</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Owns its courses, instructors &amp; students</a:t>
            </a:r>
            <a:endParaRPr lang="en-US" sz="1150" dirty="0"/>
          </a:p>
        </p:txBody>
      </p:sp>
      <p:sp>
        <p:nvSpPr>
          <p:cNvPr id="18" name="Text 14"/>
          <p:cNvSpPr/>
          <p:nvPr/>
        </p:nvSpPr>
        <p:spPr>
          <a:xfrm>
            <a:off x="6629400" y="4343400"/>
            <a:ext cx="4663440" cy="274320"/>
          </a:xfrm>
          <a:prstGeom prst="rect">
            <a:avLst/>
          </a:prstGeom>
          <a:noFill/>
          <a:ln/>
        </p:spPr>
        <p:txBody>
          <a:bodyPr wrap="square" lIns="0" tIns="0" rIns="0" bIns="0" rtlCol="0" anchor="ctr"/>
          <a:lstStyle/>
          <a:p>
            <a:pPr marL="0" indent="0">
              <a:buNone/>
            </a:pPr>
            <a:r>
              <a:rPr lang="en-US" sz="1150" b="1" kern="0" spc="100" dirty="0">
                <a:solidFill>
                  <a:srgbClr val="8B5CF6"/>
                </a:solidFill>
                <a:latin typeface="Calibri" pitchFamily="34" charset="0"/>
                <a:ea typeface="Calibri" pitchFamily="34" charset="-122"/>
                <a:cs typeface="Calibri" pitchFamily="34" charset="-120"/>
              </a:rPr>
              <a:t>Built-in Validation</a:t>
            </a:r>
            <a:endParaRPr lang="en-US" sz="1150" dirty="0"/>
          </a:p>
        </p:txBody>
      </p:sp>
      <p:sp>
        <p:nvSpPr>
          <p:cNvPr id="19" name="Text 15"/>
          <p:cNvSpPr/>
          <p:nvPr/>
        </p:nvSpPr>
        <p:spPr>
          <a:xfrm>
            <a:off x="6629400" y="4663440"/>
            <a:ext cx="4663440" cy="1280160"/>
          </a:xfrm>
          <a:prstGeom prst="rect">
            <a:avLst/>
          </a:prstGeom>
          <a:noFill/>
          <a:ln/>
        </p:spPr>
        <p:txBody>
          <a:bodyPr wrap="square" lIns="0" tIns="0" rIns="0" bIns="0" rtlCol="0" anchor="ctr"/>
          <a:lstStyle/>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Requires a department name before saving</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Prevents duplicate department names</a:t>
            </a:r>
            <a:endParaRPr lang="en-US" sz="1150" dirty="0"/>
          </a:p>
          <a:p>
            <a:pPr marL="342900" indent="-342900">
              <a:lnSpc>
                <a:spcPct val="125000"/>
              </a:lnSpc>
              <a:buSzPct val="100000"/>
              <a:buChar char="●"/>
            </a:pPr>
            <a:r>
              <a:rPr lang="en-US" sz="1150" dirty="0">
                <a:solidFill>
                  <a:srgbClr val="9CA3AF"/>
                </a:solidFill>
                <a:latin typeface="Calibri" pitchFamily="34" charset="0"/>
                <a:ea typeface="Calibri" pitchFamily="34" charset="-122"/>
                <a:cs typeface="Calibri" pitchFamily="34" charset="-120"/>
              </a:rPr>
              <a:t>Confirms before deleting a department</a:t>
            </a:r>
            <a:endParaRPr lang="en-US" sz="1150" dirty="0"/>
          </a:p>
        </p:txBody>
      </p:sp>
      <p:sp>
        <p:nvSpPr>
          <p:cNvPr id="20" name="Text 16"/>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1" name="Text 17"/>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4</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Enrollment Management</a:t>
            </a:r>
            <a:endParaRPr lang="en-US" sz="3000" dirty="0"/>
          </a:p>
        </p:txBody>
      </p:sp>
      <p:sp>
        <p:nvSpPr>
          <p:cNvPr id="4" name="Text 2"/>
          <p:cNvSpPr/>
          <p:nvPr/>
        </p:nvSpPr>
        <p:spPr>
          <a:xfrm>
            <a:off x="548640" y="1417320"/>
            <a:ext cx="11094415" cy="502920"/>
          </a:xfrm>
          <a:prstGeom prst="rect">
            <a:avLst/>
          </a:prstGeom>
          <a:noFill/>
          <a:ln/>
        </p:spPr>
        <p:txBody>
          <a:bodyPr wrap="square" lIns="0" tIns="0" rIns="0" bIns="0" rtlCol="0" anchor="ctr"/>
          <a:lstStyle/>
          <a:p>
            <a:pPr marL="0" indent="0">
              <a:lnSpc>
                <a:spcPct val="120000"/>
              </a:lnSpc>
              <a:buNone/>
            </a:pPr>
            <a:r>
              <a:rPr lang="en-US" sz="1300" dirty="0">
                <a:solidFill>
                  <a:srgbClr val="9CA3AF"/>
                </a:solidFill>
                <a:latin typeface="Calibri" pitchFamily="34" charset="0"/>
                <a:ea typeface="Calibri" pitchFamily="34" charset="-122"/>
                <a:cs typeface="Calibri" pitchFamily="34" charset="-120"/>
              </a:rPr>
              <a:t>The Enrollment screen manages the “takes” table — the record of which student is enrolled in which course section, for which semester and year, and with what grade.</a:t>
            </a:r>
            <a:endParaRPr lang="en-US" sz="1300" dirty="0"/>
          </a:p>
        </p:txBody>
      </p:sp>
      <p:sp>
        <p:nvSpPr>
          <p:cNvPr id="5" name="Shape 3"/>
          <p:cNvSpPr/>
          <p:nvPr/>
        </p:nvSpPr>
        <p:spPr>
          <a:xfrm>
            <a:off x="640080" y="2377440"/>
            <a:ext cx="2468880" cy="1371600"/>
          </a:xfrm>
          <a:prstGeom prst="roundRect">
            <a:avLst>
              <a:gd name="adj" fmla="val 5333"/>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6" name="Shape 4"/>
          <p:cNvSpPr/>
          <p:nvPr/>
        </p:nvSpPr>
        <p:spPr>
          <a:xfrm>
            <a:off x="1485900" y="2491740"/>
            <a:ext cx="777240" cy="777240"/>
          </a:xfrm>
          <a:prstGeom prst="ellipse">
            <a:avLst/>
          </a:prstGeom>
          <a:solidFill>
            <a:srgbClr val="8B5CF6"/>
          </a:solidFill>
          <a:ln/>
        </p:spPr>
      </p:sp>
      <p:pic>
        <p:nvPicPr>
          <p:cNvPr id="7" name="Image 0" descr="/home/claude/work/build/icons/student_white.png"/>
          <p:cNvPicPr>
            <a:picLocks noChangeAspect="1"/>
          </p:cNvPicPr>
          <p:nvPr/>
        </p:nvPicPr>
        <p:blipFill>
          <a:blip r:embed="rId3"/>
          <a:stretch>
            <a:fillRect/>
          </a:stretch>
        </p:blipFill>
        <p:spPr>
          <a:xfrm>
            <a:off x="1672438" y="2678278"/>
            <a:ext cx="404165" cy="404165"/>
          </a:xfrm>
          <a:prstGeom prst="rect">
            <a:avLst/>
          </a:prstGeom>
        </p:spPr>
      </p:pic>
      <p:sp>
        <p:nvSpPr>
          <p:cNvPr id="8" name="Text 5"/>
          <p:cNvSpPr/>
          <p:nvPr/>
        </p:nvSpPr>
        <p:spPr>
          <a:xfrm>
            <a:off x="640080" y="3337560"/>
            <a:ext cx="2468880" cy="32004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Student ID</a:t>
            </a:r>
            <a:endParaRPr lang="en-US" sz="1150" dirty="0"/>
          </a:p>
        </p:txBody>
      </p:sp>
      <p:sp>
        <p:nvSpPr>
          <p:cNvPr id="9" name="Shape 6"/>
          <p:cNvSpPr/>
          <p:nvPr/>
        </p:nvSpPr>
        <p:spPr>
          <a:xfrm>
            <a:off x="3429000" y="2880360"/>
            <a:ext cx="365760" cy="365760"/>
          </a:xfrm>
          <a:prstGeom prst="ellipse">
            <a:avLst/>
          </a:prstGeom>
          <a:solidFill>
            <a:srgbClr val="14101C"/>
          </a:solidFill>
          <a:ln/>
        </p:spPr>
      </p:sp>
      <p:pic>
        <p:nvPicPr>
          <p:cNvPr id="10" name="Image 1" descr="/home/claude/work/build/icons/arrow_gray.png"/>
          <p:cNvPicPr>
            <a:picLocks noChangeAspect="1"/>
          </p:cNvPicPr>
          <p:nvPr/>
        </p:nvPicPr>
        <p:blipFill>
          <a:blip r:embed="rId4"/>
          <a:stretch>
            <a:fillRect/>
          </a:stretch>
        </p:blipFill>
        <p:spPr>
          <a:xfrm>
            <a:off x="3438144" y="2889504"/>
            <a:ext cx="347472" cy="347472"/>
          </a:xfrm>
          <a:prstGeom prst="rect">
            <a:avLst/>
          </a:prstGeom>
        </p:spPr>
      </p:pic>
      <p:sp>
        <p:nvSpPr>
          <p:cNvPr id="11" name="Shape 7"/>
          <p:cNvSpPr/>
          <p:nvPr/>
        </p:nvSpPr>
        <p:spPr>
          <a:xfrm>
            <a:off x="4114800" y="2377440"/>
            <a:ext cx="2468880" cy="1371600"/>
          </a:xfrm>
          <a:prstGeom prst="roundRect">
            <a:avLst>
              <a:gd name="adj" fmla="val 5333"/>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12" name="Shape 8"/>
          <p:cNvSpPr/>
          <p:nvPr/>
        </p:nvSpPr>
        <p:spPr>
          <a:xfrm>
            <a:off x="4960620" y="2491740"/>
            <a:ext cx="777240" cy="777240"/>
          </a:xfrm>
          <a:prstGeom prst="ellipse">
            <a:avLst/>
          </a:prstGeom>
          <a:solidFill>
            <a:srgbClr val="10B981"/>
          </a:solidFill>
          <a:ln/>
        </p:spPr>
      </p:sp>
      <p:pic>
        <p:nvPicPr>
          <p:cNvPr id="13" name="Image 2" descr="/home/claude/work/build/icons/course_white.png"/>
          <p:cNvPicPr>
            <a:picLocks noChangeAspect="1"/>
          </p:cNvPicPr>
          <p:nvPr/>
        </p:nvPicPr>
        <p:blipFill>
          <a:blip r:embed="rId5"/>
          <a:stretch>
            <a:fillRect/>
          </a:stretch>
        </p:blipFill>
        <p:spPr>
          <a:xfrm>
            <a:off x="5147158" y="2678278"/>
            <a:ext cx="404165" cy="404165"/>
          </a:xfrm>
          <a:prstGeom prst="rect">
            <a:avLst/>
          </a:prstGeom>
        </p:spPr>
      </p:pic>
      <p:sp>
        <p:nvSpPr>
          <p:cNvPr id="14" name="Text 9"/>
          <p:cNvSpPr/>
          <p:nvPr/>
        </p:nvSpPr>
        <p:spPr>
          <a:xfrm>
            <a:off x="4114800" y="3337560"/>
            <a:ext cx="2468880" cy="320040"/>
          </a:xfrm>
          <a:prstGeom prst="rect">
            <a:avLst/>
          </a:prstGeom>
          <a:noFill/>
          <a:ln/>
        </p:spPr>
        <p:txBody>
          <a:bodyPr wrap="square" lIns="0" tIns="0" rIns="0" bIns="0" rtlCol="0" anchor="ctr"/>
          <a:lstStyle/>
          <a:p>
            <a:pPr marL="0" indent="0" algn="ctr">
              <a:buNone/>
            </a:pPr>
            <a:r>
              <a:rPr lang="en-US" sz="1150" dirty="0">
                <a:solidFill>
                  <a:srgbClr val="9CA3AF"/>
                </a:solidFill>
                <a:latin typeface="Calibri" pitchFamily="34" charset="0"/>
                <a:ea typeface="Calibri" pitchFamily="34" charset="-122"/>
                <a:cs typeface="Calibri" pitchFamily="34" charset="-120"/>
              </a:rPr>
              <a:t>Course / Section</a:t>
            </a:r>
            <a:endParaRPr lang="en-US" sz="1150" dirty="0"/>
          </a:p>
        </p:txBody>
      </p:sp>
      <p:sp>
        <p:nvSpPr>
          <p:cNvPr id="15" name="Shape 10"/>
          <p:cNvSpPr/>
          <p:nvPr/>
        </p:nvSpPr>
        <p:spPr>
          <a:xfrm>
            <a:off x="6903720" y="2880360"/>
            <a:ext cx="365760" cy="365760"/>
          </a:xfrm>
          <a:prstGeom prst="ellipse">
            <a:avLst/>
          </a:prstGeom>
          <a:solidFill>
            <a:srgbClr val="14101C"/>
          </a:solidFill>
          <a:ln/>
        </p:spPr>
      </p:sp>
      <p:pic>
        <p:nvPicPr>
          <p:cNvPr id="16" name="Image 3" descr="/home/claude/work/build/icons/arrow_gray.png"/>
          <p:cNvPicPr>
            <a:picLocks noChangeAspect="1"/>
          </p:cNvPicPr>
          <p:nvPr/>
        </p:nvPicPr>
        <p:blipFill>
          <a:blip r:embed="rId4"/>
          <a:stretch>
            <a:fillRect/>
          </a:stretch>
        </p:blipFill>
        <p:spPr>
          <a:xfrm>
            <a:off x="6912864" y="2889504"/>
            <a:ext cx="347472" cy="347472"/>
          </a:xfrm>
          <a:prstGeom prst="rect">
            <a:avLst/>
          </a:prstGeom>
        </p:spPr>
      </p:pic>
      <p:sp>
        <p:nvSpPr>
          <p:cNvPr id="17" name="Shape 11"/>
          <p:cNvSpPr/>
          <p:nvPr/>
        </p:nvSpPr>
        <p:spPr>
          <a:xfrm>
            <a:off x="7589520" y="2194560"/>
            <a:ext cx="3108960" cy="1737360"/>
          </a:xfrm>
          <a:prstGeom prst="roundRect">
            <a:avLst>
              <a:gd name="adj" fmla="val 4211"/>
            </a:avLst>
          </a:prstGeom>
          <a:solidFill>
            <a:srgbClr val="281F38"/>
          </a:solidFill>
          <a:ln w="12700">
            <a:solidFill>
              <a:srgbClr val="373047"/>
            </a:solidFill>
            <a:prstDash val="solid"/>
          </a:ln>
          <a:effectLst>
            <a:outerShdw blurRad="101600" dist="38100" dir="5400000" algn="bl" rotWithShape="0">
              <a:srgbClr val="000000">
                <a:alpha val="25000"/>
              </a:srgbClr>
            </a:outerShdw>
          </a:effectLst>
        </p:spPr>
      </p:sp>
      <p:sp>
        <p:nvSpPr>
          <p:cNvPr id="18" name="Shape 12"/>
          <p:cNvSpPr/>
          <p:nvPr/>
        </p:nvSpPr>
        <p:spPr>
          <a:xfrm>
            <a:off x="8732520" y="2286000"/>
            <a:ext cx="822960" cy="822960"/>
          </a:xfrm>
          <a:prstGeom prst="ellipse">
            <a:avLst/>
          </a:prstGeom>
          <a:solidFill>
            <a:srgbClr val="8B5CF6"/>
          </a:solidFill>
          <a:ln/>
        </p:spPr>
      </p:sp>
      <p:pic>
        <p:nvPicPr>
          <p:cNvPr id="19" name="Image 4" descr="/home/claude/work/build/icons/enrollment_white.png"/>
          <p:cNvPicPr>
            <a:picLocks noChangeAspect="1"/>
          </p:cNvPicPr>
          <p:nvPr/>
        </p:nvPicPr>
        <p:blipFill>
          <a:blip r:embed="rId6"/>
          <a:stretch>
            <a:fillRect/>
          </a:stretch>
        </p:blipFill>
        <p:spPr>
          <a:xfrm>
            <a:off x="8930030" y="2483510"/>
            <a:ext cx="427939" cy="427939"/>
          </a:xfrm>
          <a:prstGeom prst="rect">
            <a:avLst/>
          </a:prstGeom>
        </p:spPr>
      </p:pic>
      <p:sp>
        <p:nvSpPr>
          <p:cNvPr id="20" name="Text 13"/>
          <p:cNvSpPr/>
          <p:nvPr/>
        </p:nvSpPr>
        <p:spPr>
          <a:xfrm>
            <a:off x="7680960" y="3246120"/>
            <a:ext cx="2926080" cy="594360"/>
          </a:xfrm>
          <a:prstGeom prst="rect">
            <a:avLst/>
          </a:prstGeom>
          <a:noFill/>
          <a:ln/>
        </p:spPr>
        <p:txBody>
          <a:bodyPr wrap="square" lIns="0" tIns="0" rIns="0" bIns="0" rtlCol="0" anchor="t"/>
          <a:lstStyle/>
          <a:p>
            <a:pPr marL="0" indent="0" algn="ctr">
              <a:buNone/>
            </a:pPr>
            <a:r>
              <a:rPr lang="en-US" sz="1100" dirty="0">
                <a:solidFill>
                  <a:srgbClr val="9CA3AF"/>
                </a:solidFill>
                <a:latin typeface="Calibri" pitchFamily="34" charset="0"/>
                <a:ea typeface="Calibri" pitchFamily="34" charset="-122"/>
                <a:cs typeface="Calibri" pitchFamily="34" charset="-120"/>
              </a:rPr>
              <a:t>Enrollment Record</a:t>
            </a:r>
            <a:endParaRPr lang="en-US" sz="1100" dirty="0"/>
          </a:p>
          <a:p>
            <a:pPr marL="0" indent="0" algn="ctr">
              <a:buNone/>
            </a:pPr>
            <a:r>
              <a:rPr lang="en-US" sz="1100" dirty="0">
                <a:solidFill>
                  <a:srgbClr val="9CA3AF"/>
                </a:solidFill>
                <a:latin typeface="Calibri" pitchFamily="34" charset="0"/>
                <a:ea typeface="Calibri" pitchFamily="34" charset="-122"/>
                <a:cs typeface="Calibri" pitchFamily="34" charset="-120"/>
              </a:rPr>
              <a:t>(semester, year, grade)</a:t>
            </a:r>
            <a:endParaRPr lang="en-US" sz="1100" dirty="0"/>
          </a:p>
        </p:txBody>
      </p:sp>
      <p:sp>
        <p:nvSpPr>
          <p:cNvPr id="21" name="Shape 14"/>
          <p:cNvSpPr/>
          <p:nvPr/>
        </p:nvSpPr>
        <p:spPr>
          <a:xfrm>
            <a:off x="640080" y="4297680"/>
            <a:ext cx="10911535" cy="1691640"/>
          </a:xfrm>
          <a:prstGeom prst="roundRect">
            <a:avLst>
              <a:gd name="adj" fmla="val 4324"/>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2" name="Text 15"/>
          <p:cNvSpPr/>
          <p:nvPr/>
        </p:nvSpPr>
        <p:spPr>
          <a:xfrm>
            <a:off x="960120" y="4526280"/>
            <a:ext cx="5486400" cy="320040"/>
          </a:xfrm>
          <a:prstGeom prst="rect">
            <a:avLst/>
          </a:prstGeom>
          <a:noFill/>
          <a:ln/>
        </p:spPr>
        <p:txBody>
          <a:bodyPr wrap="square" lIns="0" tIns="0" rIns="0" bIns="0" rtlCol="0" anchor="ctr"/>
          <a:lstStyle/>
          <a:p>
            <a:pPr marL="0" indent="0">
              <a:buNone/>
            </a:pPr>
            <a:r>
              <a:rPr lang="en-US" sz="1350" b="1" dirty="0">
                <a:solidFill>
                  <a:srgbClr val="10B981"/>
                </a:solidFill>
                <a:latin typeface="Calibri" pitchFamily="34" charset="0"/>
                <a:ea typeface="Calibri" pitchFamily="34" charset="-122"/>
                <a:cs typeface="Calibri" pitchFamily="34" charset="-120"/>
              </a:rPr>
              <a:t>Validation Before Saving</a:t>
            </a:r>
            <a:endParaRPr lang="en-US" sz="1350" dirty="0"/>
          </a:p>
        </p:txBody>
      </p:sp>
      <p:sp>
        <p:nvSpPr>
          <p:cNvPr id="23" name="Text 16"/>
          <p:cNvSpPr/>
          <p:nvPr/>
        </p:nvSpPr>
        <p:spPr>
          <a:xfrm>
            <a:off x="960120" y="4892040"/>
            <a:ext cx="10271455" cy="1005840"/>
          </a:xfrm>
          <a:prstGeom prst="rect">
            <a:avLst/>
          </a:prstGeom>
          <a:noFill/>
          <a:ln/>
        </p:spPr>
        <p:txBody>
          <a:bodyPr wrap="square" lIns="0" tIns="0" rIns="0" bIns="0" rtlCol="0" anchor="ctr"/>
          <a:lstStyle/>
          <a:p>
            <a:pPr marL="342900" indent="-342900">
              <a:lnSpc>
                <a:spcPct val="130000"/>
              </a:lnSpc>
              <a:buSzPct val="100000"/>
              <a:buChar char="✓"/>
            </a:pPr>
            <a:r>
              <a:rPr lang="en-US" sz="1200" dirty="0">
                <a:solidFill>
                  <a:srgbClr val="9CA3AF"/>
                </a:solidFill>
                <a:latin typeface="Calibri" pitchFamily="34" charset="0"/>
                <a:ea typeface="Calibri" pitchFamily="34" charset="-122"/>
                <a:cs typeface="Calibri" pitchFamily="34" charset="-120"/>
              </a:rPr>
              <a:t>Confirms the student ID actually exists</a:t>
            </a:r>
            <a:endParaRPr lang="en-US" sz="1200" dirty="0"/>
          </a:p>
          <a:p>
            <a:pPr marL="342900" indent="-342900">
              <a:lnSpc>
                <a:spcPct val="130000"/>
              </a:lnSpc>
              <a:buSzPct val="100000"/>
              <a:buChar char="✓"/>
            </a:pPr>
            <a:r>
              <a:rPr lang="en-US" sz="1200" dirty="0">
                <a:solidFill>
                  <a:srgbClr val="9CA3AF"/>
                </a:solidFill>
                <a:latin typeface="Calibri" pitchFamily="34" charset="0"/>
                <a:ea typeface="Calibri" pitchFamily="34" charset="-122"/>
                <a:cs typeface="Calibri" pitchFamily="34" charset="-120"/>
              </a:rPr>
              <a:t>Confirms the course ID actually exists</a:t>
            </a:r>
            <a:endParaRPr lang="en-US" sz="1200" dirty="0"/>
          </a:p>
          <a:p>
            <a:pPr marL="342900" indent="-342900">
              <a:lnSpc>
                <a:spcPct val="130000"/>
              </a:lnSpc>
              <a:buSzPct val="100000"/>
              <a:buChar char="✓"/>
            </a:pPr>
            <a:r>
              <a:rPr lang="en-US" sz="1200" dirty="0">
                <a:solidFill>
                  <a:srgbClr val="9CA3AF"/>
                </a:solidFill>
                <a:latin typeface="Calibri" pitchFamily="34" charset="0"/>
                <a:ea typeface="Calibri" pitchFamily="34" charset="-122"/>
                <a:cs typeface="Calibri" pitchFamily="34" charset="-120"/>
              </a:rPr>
              <a:t>Blocks duplicate enrollment in the same course</a:t>
            </a:r>
            <a:endParaRPr lang="en-US" sz="1200" dirty="0"/>
          </a:p>
          <a:p>
            <a:pPr marL="342900" indent="-342900">
              <a:lnSpc>
                <a:spcPct val="130000"/>
              </a:lnSpc>
              <a:buSzPct val="100000"/>
              <a:buChar char="✓"/>
            </a:pPr>
            <a:r>
              <a:rPr lang="en-US" sz="1200" dirty="0">
                <a:solidFill>
                  <a:srgbClr val="9CA3AF"/>
                </a:solidFill>
                <a:latin typeface="Calibri" pitchFamily="34" charset="0"/>
                <a:ea typeface="Calibri" pitchFamily="34" charset="-122"/>
                <a:cs typeface="Calibri" pitchFamily="34" charset="-120"/>
              </a:rPr>
              <a:t>Supports update and delete, each with a confirmation prompt</a:t>
            </a:r>
            <a:endParaRPr lang="en-US" sz="1200" dirty="0"/>
          </a:p>
        </p:txBody>
      </p:sp>
      <p:sp>
        <p:nvSpPr>
          <p:cNvPr id="24" name="Text 17"/>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25" name="Text 18"/>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5</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Scheduling &amp; Conflict Detection</a:t>
            </a:r>
            <a:endParaRPr lang="en-US" sz="3000" dirty="0"/>
          </a:p>
        </p:txBody>
      </p:sp>
      <p:sp>
        <p:nvSpPr>
          <p:cNvPr id="4" name="Text 2"/>
          <p:cNvSpPr/>
          <p:nvPr/>
        </p:nvSpPr>
        <p:spPr>
          <a:xfrm>
            <a:off x="548640" y="1417320"/>
            <a:ext cx="11094415" cy="548640"/>
          </a:xfrm>
          <a:prstGeom prst="rect">
            <a:avLst/>
          </a:prstGeom>
          <a:noFill/>
          <a:ln/>
        </p:spPr>
        <p:txBody>
          <a:bodyPr wrap="square" lIns="0" tIns="0" rIns="0" bIns="0" rtlCol="0" anchor="ctr"/>
          <a:lstStyle/>
          <a:p>
            <a:pPr marL="0" indent="0">
              <a:lnSpc>
                <a:spcPct val="120000"/>
              </a:lnSpc>
              <a:buNone/>
            </a:pPr>
            <a:r>
              <a:rPr lang="en-US" sz="1300" dirty="0">
                <a:solidFill>
                  <a:srgbClr val="9CA3AF"/>
                </a:solidFill>
                <a:latin typeface="Calibri" pitchFamily="34" charset="0"/>
                <a:ea typeface="Calibri" pitchFamily="34" charset="-122"/>
                <a:cs typeface="Calibri" pitchFamily="34" charset="-120"/>
              </a:rPr>
              <a:t>The Scheduling module manages class time slots — day, start time, and end time — and includes a built-in conflict checker that compares a new time slot against existing ones before it's saved.</a:t>
            </a:r>
            <a:endParaRPr lang="en-US" sz="1300" dirty="0"/>
          </a:p>
        </p:txBody>
      </p:sp>
      <p:sp>
        <p:nvSpPr>
          <p:cNvPr id="5" name="Shape 3"/>
          <p:cNvSpPr/>
          <p:nvPr/>
        </p:nvSpPr>
        <p:spPr>
          <a:xfrm>
            <a:off x="548640" y="2148840"/>
            <a:ext cx="6035040" cy="3657600"/>
          </a:xfrm>
          <a:prstGeom prst="roundRect">
            <a:avLst>
              <a:gd name="adj" fmla="val 20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6" name="Text 4"/>
          <p:cNvSpPr/>
          <p:nvPr/>
        </p:nvSpPr>
        <p:spPr>
          <a:xfrm>
            <a:off x="914400" y="2423160"/>
            <a:ext cx="5303520"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What It Manages</a:t>
            </a:r>
            <a:endParaRPr lang="en-US" sz="1400" dirty="0"/>
          </a:p>
        </p:txBody>
      </p:sp>
      <p:sp>
        <p:nvSpPr>
          <p:cNvPr id="7" name="Text 5"/>
          <p:cNvSpPr/>
          <p:nvPr/>
        </p:nvSpPr>
        <p:spPr>
          <a:xfrm>
            <a:off x="914400" y="2880360"/>
            <a:ext cx="5303520" cy="2560320"/>
          </a:xfrm>
          <a:prstGeom prst="rect">
            <a:avLst/>
          </a:prstGeom>
          <a:noFill/>
          <a:ln/>
        </p:spPr>
        <p:txBody>
          <a:bodyPr wrap="square" lIns="0" tIns="0" rIns="0" bIns="0" rtlCol="0" anchor="ctr"/>
          <a:lstStyle/>
          <a:p>
            <a:pPr marL="342900" indent="-342900">
              <a:lnSpc>
                <a:spcPct val="170000"/>
              </a:lnSpc>
              <a:buSzPct val="100000"/>
              <a:buChar char="•"/>
            </a:pPr>
            <a:r>
              <a:rPr lang="en-US" sz="1300" dirty="0">
                <a:solidFill>
                  <a:srgbClr val="9CA3AF"/>
                </a:solidFill>
                <a:latin typeface="Calibri" pitchFamily="34" charset="0"/>
                <a:ea typeface="Calibri" pitchFamily="34" charset="-122"/>
                <a:cs typeface="Calibri" pitchFamily="34" charset="-120"/>
              </a:rPr>
              <a:t>Add, update, delete, and clear time slots</a:t>
            </a:r>
            <a:endParaRPr lang="en-US" sz="1300" dirty="0"/>
          </a:p>
          <a:p>
            <a:pPr marL="342900" indent="-342900">
              <a:lnSpc>
                <a:spcPct val="170000"/>
              </a:lnSpc>
              <a:buSzPct val="100000"/>
              <a:buChar char="•"/>
            </a:pPr>
            <a:r>
              <a:rPr lang="en-US" sz="1300" dirty="0">
                <a:solidFill>
                  <a:srgbClr val="9CA3AF"/>
                </a:solidFill>
                <a:latin typeface="Calibri" pitchFamily="34" charset="0"/>
                <a:ea typeface="Calibri" pitchFamily="34" charset="-122"/>
                <a:cs typeface="Calibri" pitchFamily="34" charset="-120"/>
              </a:rPr>
              <a:t>Each slot stores a day plus start and end hour/minute</a:t>
            </a:r>
            <a:endParaRPr lang="en-US" sz="1300" dirty="0"/>
          </a:p>
          <a:p>
            <a:pPr marL="342900" indent="-342900">
              <a:lnSpc>
                <a:spcPct val="170000"/>
              </a:lnSpc>
              <a:buSzPct val="100000"/>
              <a:buChar char="•"/>
            </a:pPr>
            <a:r>
              <a:rPr lang="en-US" sz="1300" dirty="0">
                <a:solidFill>
                  <a:srgbClr val="9CA3AF"/>
                </a:solidFill>
                <a:latin typeface="Calibri" pitchFamily="34" charset="0"/>
                <a:ea typeface="Calibri" pitchFamily="34" charset="-122"/>
                <a:cs typeface="Calibri" pitchFamily="34" charset="-120"/>
              </a:rPr>
              <a:t>Validates that times are well-formed (0–23h, 0–59min)</a:t>
            </a:r>
            <a:endParaRPr lang="en-US" sz="1300" dirty="0"/>
          </a:p>
          <a:p>
            <a:pPr marL="342900" indent="-342900">
              <a:lnSpc>
                <a:spcPct val="170000"/>
              </a:lnSpc>
              <a:buSzPct val="100000"/>
              <a:buChar char="•"/>
            </a:pPr>
            <a:r>
              <a:rPr lang="en-US" sz="1300" dirty="0">
                <a:solidFill>
                  <a:srgbClr val="9CA3AF"/>
                </a:solidFill>
                <a:latin typeface="Calibri" pitchFamily="34" charset="0"/>
                <a:ea typeface="Calibri" pitchFamily="34" charset="-122"/>
                <a:cs typeface="Calibri" pitchFamily="34" charset="-120"/>
              </a:rPr>
              <a:t>Confirms the end time is after the start time</a:t>
            </a:r>
            <a:endParaRPr lang="en-US" sz="1300" dirty="0"/>
          </a:p>
          <a:p>
            <a:pPr marL="342900" indent="-342900">
              <a:lnSpc>
                <a:spcPct val="170000"/>
              </a:lnSpc>
              <a:buSzPct val="100000"/>
              <a:buChar char="•"/>
            </a:pPr>
            <a:r>
              <a:rPr lang="en-US" sz="1300" dirty="0">
                <a:solidFill>
                  <a:srgbClr val="9CA3AF"/>
                </a:solidFill>
                <a:latin typeface="Calibri" pitchFamily="34" charset="0"/>
                <a:ea typeface="Calibri" pitchFamily="34" charset="-122"/>
                <a:cs typeface="Calibri" pitchFamily="34" charset="-120"/>
              </a:rPr>
              <a:t>One-click refresh of the time slot grid</a:t>
            </a:r>
            <a:endParaRPr lang="en-US" sz="1300" dirty="0"/>
          </a:p>
        </p:txBody>
      </p:sp>
      <p:sp>
        <p:nvSpPr>
          <p:cNvPr id="8" name="Shape 6"/>
          <p:cNvSpPr/>
          <p:nvPr/>
        </p:nvSpPr>
        <p:spPr>
          <a:xfrm>
            <a:off x="6858000" y="2148840"/>
            <a:ext cx="4754880" cy="3657600"/>
          </a:xfrm>
          <a:prstGeom prst="roundRect">
            <a:avLst>
              <a:gd name="adj" fmla="val 2000"/>
            </a:avLst>
          </a:prstGeom>
          <a:solidFill>
            <a:srgbClr val="281F38"/>
          </a:solidFill>
          <a:ln w="12700">
            <a:solidFill>
              <a:srgbClr val="373047"/>
            </a:solidFill>
            <a:prstDash val="solid"/>
          </a:ln>
          <a:effectLst>
            <a:outerShdw blurRad="101600" dist="38100" dir="5400000" algn="bl" rotWithShape="0">
              <a:srgbClr val="000000">
                <a:alpha val="25000"/>
              </a:srgbClr>
            </a:outerShdw>
          </a:effectLst>
        </p:spPr>
      </p:sp>
      <p:sp>
        <p:nvSpPr>
          <p:cNvPr id="9" name="Shape 7"/>
          <p:cNvSpPr/>
          <p:nvPr/>
        </p:nvSpPr>
        <p:spPr>
          <a:xfrm>
            <a:off x="7338060" y="2354580"/>
            <a:ext cx="868680" cy="868680"/>
          </a:xfrm>
          <a:prstGeom prst="ellipse">
            <a:avLst/>
          </a:prstGeom>
          <a:solidFill>
            <a:srgbClr val="10B981"/>
          </a:solidFill>
          <a:ln/>
        </p:spPr>
      </p:sp>
      <p:pic>
        <p:nvPicPr>
          <p:cNvPr id="10" name="Image 0" descr="/home/claude/work/build/icons/warning_white.png"/>
          <p:cNvPicPr>
            <a:picLocks noChangeAspect="1"/>
          </p:cNvPicPr>
          <p:nvPr/>
        </p:nvPicPr>
        <p:blipFill>
          <a:blip r:embed="rId3"/>
          <a:stretch>
            <a:fillRect/>
          </a:stretch>
        </p:blipFill>
        <p:spPr>
          <a:xfrm>
            <a:off x="7555230" y="2571750"/>
            <a:ext cx="434340" cy="434340"/>
          </a:xfrm>
          <a:prstGeom prst="rect">
            <a:avLst/>
          </a:prstGeom>
        </p:spPr>
      </p:pic>
      <p:sp>
        <p:nvSpPr>
          <p:cNvPr id="11" name="Text 8"/>
          <p:cNvSpPr/>
          <p:nvPr/>
        </p:nvSpPr>
        <p:spPr>
          <a:xfrm>
            <a:off x="8412480" y="2423160"/>
            <a:ext cx="3017520" cy="457200"/>
          </a:xfrm>
          <a:prstGeom prst="rect">
            <a:avLst/>
          </a:prstGeom>
          <a:noFill/>
          <a:ln/>
        </p:spPr>
        <p:txBody>
          <a:bodyPr wrap="square" lIns="0" tIns="0" rIns="0" bIns="0" rtlCol="0" anchor="ctr"/>
          <a:lstStyle/>
          <a:p>
            <a:pPr marL="0" indent="0">
              <a:buNone/>
            </a:pPr>
            <a:r>
              <a:rPr lang="en-US" sz="1600" b="1" dirty="0">
                <a:solidFill>
                  <a:srgbClr val="F3F4F6"/>
                </a:solidFill>
                <a:latin typeface="Calibri" pitchFamily="34" charset="0"/>
                <a:ea typeface="Calibri" pitchFamily="34" charset="-122"/>
                <a:cs typeface="Calibri" pitchFamily="34" charset="-120"/>
              </a:rPr>
              <a:t>Conflict Check</a:t>
            </a:r>
            <a:endParaRPr lang="en-US" sz="1600" dirty="0"/>
          </a:p>
        </p:txBody>
      </p:sp>
      <p:sp>
        <p:nvSpPr>
          <p:cNvPr id="12" name="Text 9"/>
          <p:cNvSpPr/>
          <p:nvPr/>
        </p:nvSpPr>
        <p:spPr>
          <a:xfrm>
            <a:off x="7178040" y="3520440"/>
            <a:ext cx="4114800" cy="2103120"/>
          </a:xfrm>
          <a:prstGeom prst="rect">
            <a:avLst/>
          </a:prstGeom>
          <a:noFill/>
          <a:ln/>
        </p:spPr>
        <p:txBody>
          <a:bodyPr wrap="square" lIns="0" tIns="0" rIns="0" bIns="0" rtlCol="0" anchor="ctr"/>
          <a:lstStyle/>
          <a:p>
            <a:pPr marL="0" indent="0">
              <a:lnSpc>
                <a:spcPct val="135000"/>
              </a:lnSpc>
              <a:buNone/>
            </a:pPr>
            <a:r>
              <a:rPr lang="en-US" sz="1300" dirty="0">
                <a:solidFill>
                  <a:srgbClr val="9CA3AF"/>
                </a:solidFill>
                <a:latin typeface="Calibri" pitchFamily="34" charset="0"/>
                <a:ea typeface="Calibri" pitchFamily="34" charset="-122"/>
                <a:cs typeface="Calibri" pitchFamily="34" charset="-120"/>
              </a:rPr>
              <a:t>Before saving, the system scans all existing time slots on the same day and flags any that overlap with the new start/end times — catching double-booked classrooms or clashing class times before they ever reach the database.</a:t>
            </a:r>
            <a:endParaRPr lang="en-US" sz="1300" dirty="0"/>
          </a:p>
        </p:txBody>
      </p:sp>
      <p:sp>
        <p:nvSpPr>
          <p:cNvPr id="13" name="Text 10"/>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14" name="Text 11"/>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MODULE 6</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Reports &amp; Analytics</a:t>
            </a:r>
            <a:endParaRPr lang="en-US" sz="3000" dirty="0"/>
          </a:p>
        </p:txBody>
      </p:sp>
      <p:sp>
        <p:nvSpPr>
          <p:cNvPr id="4" name="Text 2"/>
          <p:cNvSpPr/>
          <p:nvPr/>
        </p:nvSpPr>
        <p:spPr>
          <a:xfrm>
            <a:off x="548640" y="1371600"/>
            <a:ext cx="11094415" cy="365760"/>
          </a:xfrm>
          <a:prstGeom prst="rect">
            <a:avLst/>
          </a:prstGeom>
          <a:noFill/>
          <a:ln/>
        </p:spPr>
        <p:txBody>
          <a:bodyPr wrap="square" lIns="0" tIns="0" rIns="0" bIns="0" rtlCol="0" anchor="ctr"/>
          <a:lstStyle/>
          <a:p>
            <a:pPr marL="0" indent="0">
              <a:buNone/>
            </a:pPr>
            <a:r>
              <a:rPr lang="en-US" sz="1300" dirty="0">
                <a:solidFill>
                  <a:srgbClr val="9CA3AF"/>
                </a:solidFill>
                <a:latin typeface="Calibri" pitchFamily="34" charset="0"/>
                <a:ea typeface="Calibri" pitchFamily="34" charset="-122"/>
                <a:cs typeface="Calibri" pitchFamily="34" charset="-120"/>
              </a:rPr>
              <a:t>The Reports module offers tabular views plus live charts rendered with the Windows Forms Chart control.</a:t>
            </a:r>
            <a:endParaRPr lang="en-US" sz="1300" dirty="0"/>
          </a:p>
        </p:txBody>
      </p:sp>
      <p:sp>
        <p:nvSpPr>
          <p:cNvPr id="5" name="Shape 3"/>
          <p:cNvSpPr/>
          <p:nvPr/>
        </p:nvSpPr>
        <p:spPr>
          <a:xfrm>
            <a:off x="548640" y="1828800"/>
            <a:ext cx="3657600" cy="4160520"/>
          </a:xfrm>
          <a:prstGeom prst="roundRect">
            <a:avLst>
              <a:gd name="adj" fmla="val 2000"/>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6" name="Text 4"/>
          <p:cNvSpPr/>
          <p:nvPr/>
        </p:nvSpPr>
        <p:spPr>
          <a:xfrm>
            <a:off x="868680" y="2103120"/>
            <a:ext cx="3017520" cy="320040"/>
          </a:xfrm>
          <a:prstGeom prst="rect">
            <a:avLst/>
          </a:prstGeom>
          <a:noFill/>
          <a:ln/>
        </p:spPr>
        <p:txBody>
          <a:bodyPr wrap="square" lIns="0" tIns="0" rIns="0" bIns="0" rtlCol="0" anchor="ctr"/>
          <a:lstStyle/>
          <a:p>
            <a:pPr marL="0" indent="0">
              <a:buNone/>
            </a:pPr>
            <a:r>
              <a:rPr lang="en-US" sz="1350" b="1" dirty="0">
                <a:solidFill>
                  <a:srgbClr val="10B981"/>
                </a:solidFill>
                <a:latin typeface="Calibri" pitchFamily="34" charset="0"/>
                <a:ea typeface="Calibri" pitchFamily="34" charset="-122"/>
                <a:cs typeface="Calibri" pitchFamily="34" charset="-120"/>
              </a:rPr>
              <a:t>Tabular Views</a:t>
            </a:r>
            <a:endParaRPr lang="en-US" sz="1350" dirty="0"/>
          </a:p>
        </p:txBody>
      </p:sp>
      <p:sp>
        <p:nvSpPr>
          <p:cNvPr id="7" name="Text 5"/>
          <p:cNvSpPr/>
          <p:nvPr/>
        </p:nvSpPr>
        <p:spPr>
          <a:xfrm>
            <a:off x="868680" y="2514600"/>
            <a:ext cx="3017520" cy="1737360"/>
          </a:xfrm>
          <a:prstGeom prst="rect">
            <a:avLst/>
          </a:prstGeom>
          <a:noFill/>
          <a:ln/>
        </p:spPr>
        <p:txBody>
          <a:bodyPr wrap="square" lIns="0" tIns="0" rIns="0" bIns="0" rtlCol="0" anchor="ctr"/>
          <a:lstStyle/>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Full student roster</a:t>
            </a:r>
            <a:endParaRPr lang="en-US" sz="1150" dirty="0"/>
          </a:p>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Full course catalog</a:t>
            </a:r>
            <a:endParaRPr lang="en-US" sz="1150" dirty="0"/>
          </a:p>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Combined report: student + course + grade (joined from “takes”)</a:t>
            </a:r>
            <a:endParaRPr lang="en-US" sz="1150" dirty="0"/>
          </a:p>
        </p:txBody>
      </p:sp>
      <p:sp>
        <p:nvSpPr>
          <p:cNvPr id="8" name="Text 6"/>
          <p:cNvSpPr/>
          <p:nvPr/>
        </p:nvSpPr>
        <p:spPr>
          <a:xfrm>
            <a:off x="868680" y="4160520"/>
            <a:ext cx="3017520" cy="320040"/>
          </a:xfrm>
          <a:prstGeom prst="rect">
            <a:avLst/>
          </a:prstGeom>
          <a:noFill/>
          <a:ln/>
        </p:spPr>
        <p:txBody>
          <a:bodyPr wrap="square" lIns="0" tIns="0" rIns="0" bIns="0" rtlCol="0" anchor="ctr"/>
          <a:lstStyle/>
          <a:p>
            <a:pPr marL="0" indent="0">
              <a:buNone/>
            </a:pPr>
            <a:r>
              <a:rPr lang="en-US" sz="1350" b="1" dirty="0">
                <a:solidFill>
                  <a:srgbClr val="10B981"/>
                </a:solidFill>
                <a:latin typeface="Calibri" pitchFamily="34" charset="0"/>
                <a:ea typeface="Calibri" pitchFamily="34" charset="-122"/>
                <a:cs typeface="Calibri" pitchFamily="34" charset="-120"/>
              </a:rPr>
              <a:t>Chart Views</a:t>
            </a:r>
            <a:endParaRPr lang="en-US" sz="1350" dirty="0"/>
          </a:p>
        </p:txBody>
      </p:sp>
      <p:sp>
        <p:nvSpPr>
          <p:cNvPr id="9" name="Text 7"/>
          <p:cNvSpPr/>
          <p:nvPr/>
        </p:nvSpPr>
        <p:spPr>
          <a:xfrm>
            <a:off x="868680" y="4526280"/>
            <a:ext cx="3017520" cy="1280160"/>
          </a:xfrm>
          <a:prstGeom prst="rect">
            <a:avLst/>
          </a:prstGeom>
          <a:noFill/>
          <a:ln/>
        </p:spPr>
        <p:txBody>
          <a:bodyPr wrap="square" lIns="0" tIns="0" rIns="0" bIns="0" rtlCol="0" anchor="ctr"/>
          <a:lstStyle/>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Students by Department (pie)</a:t>
            </a:r>
            <a:endParaRPr lang="en-US" sz="1150" dirty="0"/>
          </a:p>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Course Credits (column)</a:t>
            </a:r>
            <a:endParaRPr lang="en-US" sz="1150" dirty="0"/>
          </a:p>
          <a:p>
            <a:pPr marL="342900" indent="-342900">
              <a:lnSpc>
                <a:spcPct val="130000"/>
              </a:lnSpc>
              <a:buSzPct val="100000"/>
              <a:buChar char="•"/>
            </a:pPr>
            <a:r>
              <a:rPr lang="en-US" sz="1150" dirty="0">
                <a:solidFill>
                  <a:srgbClr val="9CA3AF"/>
                </a:solidFill>
                <a:latin typeface="Calibri" pitchFamily="34" charset="0"/>
                <a:ea typeface="Calibri" pitchFamily="34" charset="-122"/>
                <a:cs typeface="Calibri" pitchFamily="34" charset="-120"/>
              </a:rPr>
              <a:t>Enrollment per Course (column)</a:t>
            </a:r>
            <a:endParaRPr lang="en-US" sz="1150" dirty="0"/>
          </a:p>
        </p:txBody>
      </p:sp>
      <p:sp>
        <p:nvSpPr>
          <p:cNvPr id="10" name="Shape 8"/>
          <p:cNvSpPr/>
          <p:nvPr/>
        </p:nvSpPr>
        <p:spPr>
          <a:xfrm>
            <a:off x="4526280" y="1828800"/>
            <a:ext cx="7132320" cy="2011680"/>
          </a:xfrm>
          <a:prstGeom prst="roundRect">
            <a:avLst>
              <a:gd name="adj" fmla="val 3636"/>
            </a:avLst>
          </a:prstGeom>
          <a:solidFill>
            <a:srgbClr val="281F38"/>
          </a:solidFill>
          <a:ln w="12700">
            <a:solidFill>
              <a:srgbClr val="373047"/>
            </a:solidFill>
            <a:prstDash val="solid"/>
          </a:ln>
        </p:spPr>
      </p:sp>
      <p:sp>
        <p:nvSpPr>
          <p:cNvPr id="11" name="Text 9"/>
          <p:cNvSpPr/>
          <p:nvPr/>
        </p:nvSpPr>
        <p:spPr>
          <a:xfrm>
            <a:off x="4754880" y="1920240"/>
            <a:ext cx="6675120" cy="274320"/>
          </a:xfrm>
          <a:prstGeom prst="rect">
            <a:avLst/>
          </a:prstGeom>
          <a:noFill/>
          <a:ln/>
        </p:spPr>
        <p:txBody>
          <a:bodyPr wrap="square" lIns="0" tIns="0" rIns="0" bIns="0" rtlCol="0" anchor="ctr"/>
          <a:lstStyle/>
          <a:p>
            <a:pPr marL="0" indent="0">
              <a:buNone/>
            </a:pPr>
            <a:r>
              <a:rPr lang="en-US" sz="1050" i="1" dirty="0">
                <a:solidFill>
                  <a:srgbClr val="9CA3AF"/>
                </a:solidFill>
                <a:latin typeface="Calibri" pitchFamily="34" charset="0"/>
                <a:ea typeface="Calibri" pitchFamily="34" charset="-122"/>
                <a:cs typeface="Calibri" pitchFamily="34" charset="-120"/>
              </a:rPr>
              <a:t>Students by Department — illustrative example</a:t>
            </a:r>
            <a:endParaRPr lang="en-US" sz="1050" dirty="0"/>
          </a:p>
        </p:txBody>
      </p:sp>
      <p:graphicFrame>
        <p:nvGraphicFramePr>
          <p:cNvPr id="12" name="Chart 0"/>
          <p:cNvGraphicFramePr/>
          <p:nvPr/>
        </p:nvGraphicFramePr>
        <p:xfrm>
          <a:off x="4572000" y="2194560"/>
          <a:ext cx="329184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4526280" y="4023360"/>
            <a:ext cx="7132320" cy="1965960"/>
          </a:xfrm>
          <a:prstGeom prst="roundRect">
            <a:avLst>
              <a:gd name="adj" fmla="val 3721"/>
            </a:avLst>
          </a:prstGeom>
          <a:solidFill>
            <a:srgbClr val="281F38"/>
          </a:solidFill>
          <a:ln w="12700">
            <a:solidFill>
              <a:srgbClr val="373047"/>
            </a:solidFill>
            <a:prstDash val="solid"/>
          </a:ln>
        </p:spPr>
      </p:sp>
      <p:sp>
        <p:nvSpPr>
          <p:cNvPr id="14" name="Text 11"/>
          <p:cNvSpPr/>
          <p:nvPr/>
        </p:nvSpPr>
        <p:spPr>
          <a:xfrm>
            <a:off x="4754880" y="4114800"/>
            <a:ext cx="6675120" cy="274320"/>
          </a:xfrm>
          <a:prstGeom prst="rect">
            <a:avLst/>
          </a:prstGeom>
          <a:noFill/>
          <a:ln/>
        </p:spPr>
        <p:txBody>
          <a:bodyPr wrap="square" lIns="0" tIns="0" rIns="0" bIns="0" rtlCol="0" anchor="ctr"/>
          <a:lstStyle/>
          <a:p>
            <a:pPr marL="0" indent="0">
              <a:buNone/>
            </a:pPr>
            <a:r>
              <a:rPr lang="en-US" sz="1050" i="1" dirty="0">
                <a:solidFill>
                  <a:srgbClr val="9CA3AF"/>
                </a:solidFill>
                <a:latin typeface="Calibri" pitchFamily="34" charset="0"/>
                <a:ea typeface="Calibri" pitchFamily="34" charset="-122"/>
                <a:cs typeface="Calibri" pitchFamily="34" charset="-120"/>
              </a:rPr>
              <a:t>Enrollment per Course — illustrative example</a:t>
            </a:r>
            <a:endParaRPr lang="en-US" sz="1050" dirty="0"/>
          </a:p>
        </p:txBody>
      </p:sp>
      <p:graphicFrame>
        <p:nvGraphicFramePr>
          <p:cNvPr id="15" name="Chart 1"/>
          <p:cNvGraphicFramePr/>
          <p:nvPr/>
        </p:nvGraphicFramePr>
        <p:xfrm>
          <a:off x="4572000" y="4389120"/>
          <a:ext cx="685800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 12"/>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17" name="Text 13"/>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01C"/>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VISUAL IDENTITY</a:t>
            </a:r>
            <a:endParaRPr lang="en-US" sz="1300" dirty="0"/>
          </a:p>
        </p:txBody>
      </p:sp>
      <p:sp>
        <p:nvSpPr>
          <p:cNvPr id="3" name="Text 1"/>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Design Language — Purple &amp; Green Theme</a:t>
            </a:r>
            <a:endParaRPr lang="en-US" sz="3000" dirty="0"/>
          </a:p>
        </p:txBody>
      </p:sp>
      <p:sp>
        <p:nvSpPr>
          <p:cNvPr id="4" name="Text 2"/>
          <p:cNvSpPr/>
          <p:nvPr/>
        </p:nvSpPr>
        <p:spPr>
          <a:xfrm>
            <a:off x="548640" y="1417320"/>
            <a:ext cx="11094415" cy="502920"/>
          </a:xfrm>
          <a:prstGeom prst="rect">
            <a:avLst/>
          </a:prstGeom>
          <a:noFill/>
          <a:ln/>
        </p:spPr>
        <p:txBody>
          <a:bodyPr wrap="square" lIns="0" tIns="0" rIns="0" bIns="0" rtlCol="0" anchor="ctr"/>
          <a:lstStyle/>
          <a:p>
            <a:pPr marL="0" indent="0">
              <a:lnSpc>
                <a:spcPct val="120000"/>
              </a:lnSpc>
              <a:buNone/>
            </a:pPr>
            <a:r>
              <a:rPr lang="en-US" sz="1300" dirty="0">
                <a:solidFill>
                  <a:srgbClr val="9CA3AF"/>
                </a:solidFill>
                <a:latin typeface="Calibri" pitchFamily="34" charset="0"/>
                <a:ea typeface="Calibri" pitchFamily="34" charset="-122"/>
                <a:cs typeface="Calibri" pitchFamily="34" charset="-120"/>
              </a:rPr>
              <a:t>Every form shares one custom dark theme, applied centrally through a single StyleHelper class — so the look stays consistent no matter which screen is open.</a:t>
            </a:r>
            <a:endParaRPr lang="en-US" sz="1300" dirty="0"/>
          </a:p>
        </p:txBody>
      </p:sp>
      <p:sp>
        <p:nvSpPr>
          <p:cNvPr id="5" name="Shape 3"/>
          <p:cNvSpPr/>
          <p:nvPr/>
        </p:nvSpPr>
        <p:spPr>
          <a:xfrm>
            <a:off x="548640" y="2148840"/>
            <a:ext cx="1783080" cy="914400"/>
          </a:xfrm>
          <a:prstGeom prst="roundRect">
            <a:avLst>
              <a:gd name="adj" fmla="val 7000"/>
            </a:avLst>
          </a:prstGeom>
          <a:solidFill>
            <a:srgbClr val="14101C"/>
          </a:solidFill>
          <a:ln w="12700">
            <a:solidFill>
              <a:srgbClr val="373047"/>
            </a:solidFill>
            <a:prstDash val="solid"/>
          </a:ln>
        </p:spPr>
      </p:sp>
      <p:sp>
        <p:nvSpPr>
          <p:cNvPr id="6" name="Text 4"/>
          <p:cNvSpPr/>
          <p:nvPr/>
        </p:nvSpPr>
        <p:spPr>
          <a:xfrm>
            <a:off x="548640"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Background</a:t>
            </a:r>
            <a:endParaRPr lang="en-US" sz="1050" dirty="0"/>
          </a:p>
        </p:txBody>
      </p:sp>
      <p:sp>
        <p:nvSpPr>
          <p:cNvPr id="7" name="Text 5"/>
          <p:cNvSpPr/>
          <p:nvPr/>
        </p:nvSpPr>
        <p:spPr>
          <a:xfrm>
            <a:off x="548640"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#14101C</a:t>
            </a:r>
            <a:endParaRPr lang="en-US" sz="950" dirty="0"/>
          </a:p>
        </p:txBody>
      </p:sp>
      <p:sp>
        <p:nvSpPr>
          <p:cNvPr id="8" name="Shape 6"/>
          <p:cNvSpPr/>
          <p:nvPr/>
        </p:nvSpPr>
        <p:spPr>
          <a:xfrm>
            <a:off x="2496312" y="2148840"/>
            <a:ext cx="1783080" cy="914400"/>
          </a:xfrm>
          <a:prstGeom prst="roundRect">
            <a:avLst>
              <a:gd name="adj" fmla="val 7000"/>
            </a:avLst>
          </a:prstGeom>
          <a:solidFill>
            <a:srgbClr val="201A2C"/>
          </a:solidFill>
          <a:ln w="12700">
            <a:solidFill>
              <a:srgbClr val="373047"/>
            </a:solidFill>
            <a:prstDash val="solid"/>
          </a:ln>
        </p:spPr>
      </p:sp>
      <p:sp>
        <p:nvSpPr>
          <p:cNvPr id="9" name="Text 7"/>
          <p:cNvSpPr/>
          <p:nvPr/>
        </p:nvSpPr>
        <p:spPr>
          <a:xfrm>
            <a:off x="2496312"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Card / Panel</a:t>
            </a:r>
            <a:endParaRPr lang="en-US" sz="1050" dirty="0"/>
          </a:p>
        </p:txBody>
      </p:sp>
      <p:sp>
        <p:nvSpPr>
          <p:cNvPr id="10" name="Text 8"/>
          <p:cNvSpPr/>
          <p:nvPr/>
        </p:nvSpPr>
        <p:spPr>
          <a:xfrm>
            <a:off x="2496312"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#201A2C</a:t>
            </a:r>
            <a:endParaRPr lang="en-US" sz="950" dirty="0"/>
          </a:p>
        </p:txBody>
      </p:sp>
      <p:sp>
        <p:nvSpPr>
          <p:cNvPr id="11" name="Shape 9"/>
          <p:cNvSpPr/>
          <p:nvPr/>
        </p:nvSpPr>
        <p:spPr>
          <a:xfrm>
            <a:off x="4443984" y="2148840"/>
            <a:ext cx="1783080" cy="914400"/>
          </a:xfrm>
          <a:prstGeom prst="roundRect">
            <a:avLst>
              <a:gd name="adj" fmla="val 7000"/>
            </a:avLst>
          </a:prstGeom>
          <a:solidFill>
            <a:srgbClr val="8B5CF6"/>
          </a:solidFill>
          <a:ln w="12700">
            <a:solidFill>
              <a:srgbClr val="373047"/>
            </a:solidFill>
            <a:prstDash val="solid"/>
          </a:ln>
        </p:spPr>
      </p:sp>
      <p:sp>
        <p:nvSpPr>
          <p:cNvPr id="12" name="Text 10"/>
          <p:cNvSpPr/>
          <p:nvPr/>
        </p:nvSpPr>
        <p:spPr>
          <a:xfrm>
            <a:off x="4443984"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Purple Accent</a:t>
            </a:r>
            <a:endParaRPr lang="en-US" sz="1050" dirty="0"/>
          </a:p>
        </p:txBody>
      </p:sp>
      <p:sp>
        <p:nvSpPr>
          <p:cNvPr id="13" name="Text 11"/>
          <p:cNvSpPr/>
          <p:nvPr/>
        </p:nvSpPr>
        <p:spPr>
          <a:xfrm>
            <a:off x="4443984"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#8B5CF6</a:t>
            </a:r>
            <a:endParaRPr lang="en-US" sz="950" dirty="0"/>
          </a:p>
        </p:txBody>
      </p:sp>
      <p:sp>
        <p:nvSpPr>
          <p:cNvPr id="14" name="Shape 12"/>
          <p:cNvSpPr/>
          <p:nvPr/>
        </p:nvSpPr>
        <p:spPr>
          <a:xfrm>
            <a:off x="6391656" y="2148840"/>
            <a:ext cx="1783080" cy="914400"/>
          </a:xfrm>
          <a:prstGeom prst="roundRect">
            <a:avLst>
              <a:gd name="adj" fmla="val 7000"/>
            </a:avLst>
          </a:prstGeom>
          <a:solidFill>
            <a:srgbClr val="10B981"/>
          </a:solidFill>
          <a:ln w="12700">
            <a:solidFill>
              <a:srgbClr val="373047"/>
            </a:solidFill>
            <a:prstDash val="solid"/>
          </a:ln>
        </p:spPr>
      </p:sp>
      <p:sp>
        <p:nvSpPr>
          <p:cNvPr id="15" name="Text 13"/>
          <p:cNvSpPr/>
          <p:nvPr/>
        </p:nvSpPr>
        <p:spPr>
          <a:xfrm>
            <a:off x="6391656"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Green Accent</a:t>
            </a:r>
            <a:endParaRPr lang="en-US" sz="1050" dirty="0"/>
          </a:p>
        </p:txBody>
      </p:sp>
      <p:sp>
        <p:nvSpPr>
          <p:cNvPr id="16" name="Text 14"/>
          <p:cNvSpPr/>
          <p:nvPr/>
        </p:nvSpPr>
        <p:spPr>
          <a:xfrm>
            <a:off x="6391656"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#10B981</a:t>
            </a:r>
            <a:endParaRPr lang="en-US" sz="950" dirty="0"/>
          </a:p>
        </p:txBody>
      </p:sp>
      <p:sp>
        <p:nvSpPr>
          <p:cNvPr id="17" name="Shape 15"/>
          <p:cNvSpPr/>
          <p:nvPr/>
        </p:nvSpPr>
        <p:spPr>
          <a:xfrm>
            <a:off x="8339328" y="2148840"/>
            <a:ext cx="1783080" cy="914400"/>
          </a:xfrm>
          <a:prstGeom prst="roundRect">
            <a:avLst>
              <a:gd name="adj" fmla="val 7000"/>
            </a:avLst>
          </a:prstGeom>
          <a:solidFill>
            <a:srgbClr val="F3F4F6"/>
          </a:solidFill>
          <a:ln w="12700">
            <a:solidFill>
              <a:srgbClr val="373047"/>
            </a:solidFill>
            <a:prstDash val="solid"/>
          </a:ln>
        </p:spPr>
      </p:sp>
      <p:sp>
        <p:nvSpPr>
          <p:cNvPr id="18" name="Text 16"/>
          <p:cNvSpPr/>
          <p:nvPr/>
        </p:nvSpPr>
        <p:spPr>
          <a:xfrm>
            <a:off x="8339328"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Primary Text</a:t>
            </a:r>
            <a:endParaRPr lang="en-US" sz="1050" dirty="0"/>
          </a:p>
        </p:txBody>
      </p:sp>
      <p:sp>
        <p:nvSpPr>
          <p:cNvPr id="19" name="Text 17"/>
          <p:cNvSpPr/>
          <p:nvPr/>
        </p:nvSpPr>
        <p:spPr>
          <a:xfrm>
            <a:off x="8339328"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#F3F4F6</a:t>
            </a:r>
            <a:endParaRPr lang="en-US" sz="950" dirty="0"/>
          </a:p>
        </p:txBody>
      </p:sp>
      <p:sp>
        <p:nvSpPr>
          <p:cNvPr id="20" name="Shape 18"/>
          <p:cNvSpPr/>
          <p:nvPr/>
        </p:nvSpPr>
        <p:spPr>
          <a:xfrm>
            <a:off x="10287000" y="2148840"/>
            <a:ext cx="1783080" cy="914400"/>
          </a:xfrm>
          <a:prstGeom prst="roundRect">
            <a:avLst>
              <a:gd name="adj" fmla="val 7000"/>
            </a:avLst>
          </a:prstGeom>
          <a:solidFill>
            <a:srgbClr val="9CA3AF"/>
          </a:solidFill>
          <a:ln w="12700">
            <a:solidFill>
              <a:srgbClr val="373047"/>
            </a:solidFill>
            <a:prstDash val="solid"/>
          </a:ln>
        </p:spPr>
      </p:sp>
      <p:sp>
        <p:nvSpPr>
          <p:cNvPr id="21" name="Text 19"/>
          <p:cNvSpPr/>
          <p:nvPr/>
        </p:nvSpPr>
        <p:spPr>
          <a:xfrm>
            <a:off x="10287000" y="3136392"/>
            <a:ext cx="1783080" cy="292608"/>
          </a:xfrm>
          <a:prstGeom prst="rect">
            <a:avLst/>
          </a:prstGeom>
          <a:noFill/>
          <a:ln/>
        </p:spPr>
        <p:txBody>
          <a:bodyPr wrap="square" lIns="0" tIns="0" rIns="0" bIns="0" rtlCol="0" anchor="ctr"/>
          <a:lstStyle/>
          <a:p>
            <a:pPr marL="0" indent="0" algn="ctr">
              <a:buNone/>
            </a:pPr>
            <a:r>
              <a:rPr lang="en-US" sz="1050" b="1" dirty="0">
                <a:solidFill>
                  <a:srgbClr val="F3F4F6"/>
                </a:solidFill>
                <a:latin typeface="Calibri" pitchFamily="34" charset="0"/>
                <a:ea typeface="Calibri" pitchFamily="34" charset="-122"/>
                <a:cs typeface="Calibri" pitchFamily="34" charset="-120"/>
              </a:rPr>
              <a:t>Muted Text</a:t>
            </a:r>
            <a:endParaRPr lang="en-US" sz="1050" dirty="0"/>
          </a:p>
        </p:txBody>
      </p:sp>
      <p:sp>
        <p:nvSpPr>
          <p:cNvPr id="22" name="Text 20"/>
          <p:cNvSpPr/>
          <p:nvPr/>
        </p:nvSpPr>
        <p:spPr>
          <a:xfrm>
            <a:off x="10287000" y="3392424"/>
            <a:ext cx="1783080" cy="256032"/>
          </a:xfrm>
          <a:prstGeom prst="rect">
            <a:avLst/>
          </a:prstGeom>
          <a:noFill/>
          <a:ln/>
        </p:spPr>
        <p:txBody>
          <a:bodyPr wrap="square" lIns="0" tIns="0" rIns="0" bIns="0" rtlCol="0" anchor="ctr"/>
          <a:lstStyle/>
          <a:p>
            <a:pPr marL="0" indent="0" algn="ctr">
              <a:buNone/>
            </a:pPr>
            <a:r>
              <a:rPr lang="en-US" sz="950" dirty="0">
                <a:solidFill>
                  <a:srgbClr val="9CA3AF"/>
                </a:solidFill>
                <a:latin typeface="Calibri" pitchFamily="34" charset="0"/>
                <a:ea typeface="Calibri" pitchFamily="34" charset="-122"/>
                <a:cs typeface="Calibri" pitchFamily="34" charset="-120"/>
              </a:rPr>
              <a:t>#9CA3AF</a:t>
            </a:r>
            <a:endParaRPr lang="en-US" sz="950" dirty="0"/>
          </a:p>
        </p:txBody>
      </p:sp>
      <p:sp>
        <p:nvSpPr>
          <p:cNvPr id="23" name="Shape 21"/>
          <p:cNvSpPr/>
          <p:nvPr/>
        </p:nvSpPr>
        <p:spPr>
          <a:xfrm>
            <a:off x="548640" y="3886200"/>
            <a:ext cx="11094415" cy="2148840"/>
          </a:xfrm>
          <a:prstGeom prst="roundRect">
            <a:avLst>
              <a:gd name="adj" fmla="val 3404"/>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24" name="Text 22"/>
          <p:cNvSpPr/>
          <p:nvPr/>
        </p:nvSpPr>
        <p:spPr>
          <a:xfrm>
            <a:off x="868680" y="4114800"/>
            <a:ext cx="10454335" cy="32004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Design Principles Used Throughout the App</a:t>
            </a:r>
            <a:endParaRPr lang="en-US" sz="1400" dirty="0"/>
          </a:p>
        </p:txBody>
      </p:sp>
      <p:sp>
        <p:nvSpPr>
          <p:cNvPr id="25" name="Text 23"/>
          <p:cNvSpPr/>
          <p:nvPr/>
        </p:nvSpPr>
        <p:spPr>
          <a:xfrm>
            <a:off x="868680" y="4572000"/>
            <a:ext cx="3301898" cy="365760"/>
          </a:xfrm>
          <a:prstGeom prst="rect">
            <a:avLst/>
          </a:prstGeom>
          <a:noFill/>
          <a:ln/>
        </p:spPr>
        <p:txBody>
          <a:bodyPr wrap="square" lIns="0" tIns="0" rIns="0" bIns="0" rtlCol="0" anchor="ctr"/>
          <a:lstStyle/>
          <a:p>
            <a:pPr marL="0" indent="0">
              <a:buNone/>
            </a:pPr>
            <a:r>
              <a:rPr lang="en-US" sz="1250" b="1" dirty="0">
                <a:solidFill>
                  <a:srgbClr val="F3F4F6"/>
                </a:solidFill>
                <a:latin typeface="Calibri" pitchFamily="34" charset="0"/>
                <a:ea typeface="Calibri" pitchFamily="34" charset="-122"/>
                <a:cs typeface="Calibri" pitchFamily="34" charset="-120"/>
              </a:rPr>
              <a:t>Dark canvas, bright accents</a:t>
            </a:r>
            <a:endParaRPr lang="en-US" sz="1250" dirty="0"/>
          </a:p>
        </p:txBody>
      </p:sp>
      <p:sp>
        <p:nvSpPr>
          <p:cNvPr id="26" name="Text 24"/>
          <p:cNvSpPr/>
          <p:nvPr/>
        </p:nvSpPr>
        <p:spPr>
          <a:xfrm>
            <a:off x="868680" y="4956048"/>
            <a:ext cx="3301898" cy="960120"/>
          </a:xfrm>
          <a:prstGeom prst="rect">
            <a:avLst/>
          </a:prstGeom>
          <a:noFill/>
          <a:ln/>
        </p:spPr>
        <p:txBody>
          <a:bodyPr wrap="square" lIns="0" tIns="0" rIns="0" bIns="0" rtlCol="0" anchor="ctr"/>
          <a:lstStyle/>
          <a:p>
            <a:pPr marL="0" indent="0">
              <a:lnSpc>
                <a:spcPct val="125000"/>
              </a:lnSpc>
              <a:buNone/>
            </a:pPr>
            <a:r>
              <a:rPr lang="en-US" sz="1050" dirty="0">
                <a:solidFill>
                  <a:srgbClr val="9CA3AF"/>
                </a:solidFill>
                <a:latin typeface="Calibri" pitchFamily="34" charset="0"/>
                <a:ea typeface="Calibri" pitchFamily="34" charset="-122"/>
                <a:cs typeface="Calibri" pitchFamily="34" charset="-120"/>
              </a:rPr>
              <a:t>Deep purple-gray backgrounds reduce eye strain; purple and green draw attention only where it matters.</a:t>
            </a:r>
            <a:endParaRPr lang="en-US" sz="1050" dirty="0"/>
          </a:p>
        </p:txBody>
      </p:sp>
      <p:sp>
        <p:nvSpPr>
          <p:cNvPr id="27" name="Text 25"/>
          <p:cNvSpPr/>
          <p:nvPr/>
        </p:nvSpPr>
        <p:spPr>
          <a:xfrm>
            <a:off x="4444898" y="4572000"/>
            <a:ext cx="3301898" cy="365760"/>
          </a:xfrm>
          <a:prstGeom prst="rect">
            <a:avLst/>
          </a:prstGeom>
          <a:noFill/>
          <a:ln/>
        </p:spPr>
        <p:txBody>
          <a:bodyPr wrap="square" lIns="0" tIns="0" rIns="0" bIns="0" rtlCol="0" anchor="ctr"/>
          <a:lstStyle/>
          <a:p>
            <a:pPr marL="0" indent="0">
              <a:buNone/>
            </a:pPr>
            <a:r>
              <a:rPr lang="en-US" sz="1250" b="1" dirty="0">
                <a:solidFill>
                  <a:srgbClr val="F3F4F6"/>
                </a:solidFill>
                <a:latin typeface="Calibri" pitchFamily="34" charset="0"/>
                <a:ea typeface="Calibri" pitchFamily="34" charset="-122"/>
                <a:cs typeface="Calibri" pitchFamily="34" charset="-120"/>
              </a:rPr>
              <a:t>Role-based styling</a:t>
            </a:r>
            <a:endParaRPr lang="en-US" sz="1250" dirty="0"/>
          </a:p>
        </p:txBody>
      </p:sp>
      <p:sp>
        <p:nvSpPr>
          <p:cNvPr id="28" name="Text 26"/>
          <p:cNvSpPr/>
          <p:nvPr/>
        </p:nvSpPr>
        <p:spPr>
          <a:xfrm>
            <a:off x="4444898" y="4956048"/>
            <a:ext cx="3301898" cy="960120"/>
          </a:xfrm>
          <a:prstGeom prst="rect">
            <a:avLst/>
          </a:prstGeom>
          <a:noFill/>
          <a:ln/>
        </p:spPr>
        <p:txBody>
          <a:bodyPr wrap="square" lIns="0" tIns="0" rIns="0" bIns="0" rtlCol="0" anchor="ctr"/>
          <a:lstStyle/>
          <a:p>
            <a:pPr marL="0" indent="0">
              <a:lnSpc>
                <a:spcPct val="125000"/>
              </a:lnSpc>
              <a:buNone/>
            </a:pPr>
            <a:r>
              <a:rPr lang="en-US" sz="1050" dirty="0">
                <a:solidFill>
                  <a:srgbClr val="9CA3AF"/>
                </a:solidFill>
                <a:latin typeface="Calibri" pitchFamily="34" charset="0"/>
                <a:ea typeface="Calibri" pitchFamily="34" charset="-122"/>
                <a:cs typeface="Calibri" pitchFamily="34" charset="-120"/>
              </a:rPr>
              <a:t>Login, Admin, and Report screens each get tailored layouts, while data-entry forms share one consistent style.</a:t>
            </a:r>
            <a:endParaRPr lang="en-US" sz="1050" dirty="0"/>
          </a:p>
        </p:txBody>
      </p:sp>
      <p:sp>
        <p:nvSpPr>
          <p:cNvPr id="29" name="Text 27"/>
          <p:cNvSpPr/>
          <p:nvPr/>
        </p:nvSpPr>
        <p:spPr>
          <a:xfrm>
            <a:off x="8021117" y="4572000"/>
            <a:ext cx="3301898" cy="365760"/>
          </a:xfrm>
          <a:prstGeom prst="rect">
            <a:avLst/>
          </a:prstGeom>
          <a:noFill/>
          <a:ln/>
        </p:spPr>
        <p:txBody>
          <a:bodyPr wrap="square" lIns="0" tIns="0" rIns="0" bIns="0" rtlCol="0" anchor="ctr"/>
          <a:lstStyle/>
          <a:p>
            <a:pPr marL="0" indent="0">
              <a:buNone/>
            </a:pPr>
            <a:r>
              <a:rPr lang="en-US" sz="1250" b="1" dirty="0">
                <a:solidFill>
                  <a:srgbClr val="F3F4F6"/>
                </a:solidFill>
                <a:latin typeface="Calibri" pitchFamily="34" charset="0"/>
                <a:ea typeface="Calibri" pitchFamily="34" charset="-122"/>
                <a:cs typeface="Calibri" pitchFamily="34" charset="-120"/>
              </a:rPr>
              <a:t>Centralized theming</a:t>
            </a:r>
            <a:endParaRPr lang="en-US" sz="1250" dirty="0"/>
          </a:p>
        </p:txBody>
      </p:sp>
      <p:sp>
        <p:nvSpPr>
          <p:cNvPr id="30" name="Text 28"/>
          <p:cNvSpPr/>
          <p:nvPr/>
        </p:nvSpPr>
        <p:spPr>
          <a:xfrm>
            <a:off x="8021117" y="4956048"/>
            <a:ext cx="3301898" cy="960120"/>
          </a:xfrm>
          <a:prstGeom prst="rect">
            <a:avLst/>
          </a:prstGeom>
          <a:noFill/>
          <a:ln/>
        </p:spPr>
        <p:txBody>
          <a:bodyPr wrap="square" lIns="0" tIns="0" rIns="0" bIns="0" rtlCol="0" anchor="ctr"/>
          <a:lstStyle/>
          <a:p>
            <a:pPr marL="0" indent="0">
              <a:lnSpc>
                <a:spcPct val="125000"/>
              </a:lnSpc>
              <a:buNone/>
            </a:pPr>
            <a:r>
              <a:rPr lang="en-US" sz="1050" dirty="0">
                <a:solidFill>
                  <a:srgbClr val="9CA3AF"/>
                </a:solidFill>
                <a:latin typeface="Calibri" pitchFamily="34" charset="0"/>
                <a:ea typeface="Calibri" pitchFamily="34" charset="-122"/>
                <a:cs typeface="Calibri" pitchFamily="34" charset="-120"/>
              </a:rPr>
              <a:t>One StyleHelper.Apply() call styles every form, so updates to the palette only happen in one place.</a:t>
            </a:r>
            <a:endParaRPr lang="en-US" sz="1050" dirty="0"/>
          </a:p>
        </p:txBody>
      </p:sp>
      <p:sp>
        <p:nvSpPr>
          <p:cNvPr id="31" name="Text 29"/>
          <p:cNvSpPr/>
          <p:nvPr/>
        </p:nvSpPr>
        <p:spPr>
          <a:xfrm>
            <a:off x="548640" y="6519672"/>
            <a:ext cx="5486400" cy="274320"/>
          </a:xfrm>
          <a:prstGeom prst="rect">
            <a:avLst/>
          </a:prstGeom>
          <a:noFill/>
          <a:ln/>
        </p:spPr>
        <p:txBody>
          <a:bodyPr wrap="square" lIns="0" tIns="0" rIns="0" bIns="0" rtlCol="0" anchor="ctr"/>
          <a:lstStyle/>
          <a:p>
            <a:pPr marL="0" indent="0" algn="l">
              <a:buNone/>
            </a:pPr>
            <a:r>
              <a:rPr lang="en-US" sz="1000" dirty="0">
                <a:solidFill>
                  <a:srgbClr val="9CA3AF"/>
                </a:solidFill>
                <a:latin typeface="Calibri" pitchFamily="34" charset="0"/>
                <a:ea typeface="Calibri" pitchFamily="34" charset="-122"/>
                <a:cs typeface="Calibri" pitchFamily="34" charset="-120"/>
              </a:rPr>
              <a:t>University Management System</a:t>
            </a:r>
            <a:endParaRPr lang="en-US" sz="1000" dirty="0"/>
          </a:p>
        </p:txBody>
      </p:sp>
      <p:sp>
        <p:nvSpPr>
          <p:cNvPr id="32" name="Text 30"/>
          <p:cNvSpPr/>
          <p:nvPr/>
        </p:nvSpPr>
        <p:spPr>
          <a:xfrm>
            <a:off x="10728655" y="6519672"/>
            <a:ext cx="914400" cy="274320"/>
          </a:xfrm>
          <a:prstGeom prst="rect">
            <a:avLst/>
          </a:prstGeom>
          <a:noFill/>
          <a:ln/>
        </p:spPr>
        <p:txBody>
          <a:bodyPr wrap="square" lIns="0" tIns="0" rIns="0" bIns="0" rtlCol="0" anchor="ctr"/>
          <a:lstStyle/>
          <a:p>
            <a:pPr marL="0" indent="0" algn="r">
              <a:buNone/>
            </a:pPr>
            <a:r>
              <a:rPr lang="en-US" sz="1000" dirty="0">
                <a:solidFill>
                  <a:srgbClr val="9CA3AF"/>
                </a:solidFill>
                <a:latin typeface="Calibri" pitchFamily="34" charset="0"/>
                <a:ea typeface="Calibri" pitchFamily="34" charset="-122"/>
                <a:cs typeface="Calibri" pitchFamily="34" charset="-120"/>
              </a:rPr>
              <a:t>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01C"/>
        </a:solidFill>
        <a:effectLst/>
      </p:bgPr>
    </p:bg>
    <p:spTree>
      <p:nvGrpSpPr>
        <p:cNvPr id="1" name=""/>
        <p:cNvGrpSpPr/>
        <p:nvPr/>
      </p:nvGrpSpPr>
      <p:grpSpPr>
        <a:xfrm>
          <a:off x="0" y="0"/>
          <a:ext cx="0" cy="0"/>
          <a:chOff x="0" y="0"/>
          <a:chExt cx="0" cy="0"/>
        </a:xfrm>
      </p:grpSpPr>
      <p:sp>
        <p:nvSpPr>
          <p:cNvPr id="2" name="Shape 0"/>
          <p:cNvSpPr/>
          <p:nvPr/>
        </p:nvSpPr>
        <p:spPr>
          <a:xfrm>
            <a:off x="-1828800" y="3200400"/>
            <a:ext cx="5486400" cy="5486400"/>
          </a:xfrm>
          <a:prstGeom prst="ellipse">
            <a:avLst/>
          </a:prstGeom>
          <a:solidFill>
            <a:srgbClr val="10B981">
              <a:alpha val="10000"/>
            </a:srgbClr>
          </a:solidFill>
          <a:ln/>
        </p:spPr>
      </p:sp>
      <p:sp>
        <p:nvSpPr>
          <p:cNvPr id="3" name="Shape 1"/>
          <p:cNvSpPr/>
          <p:nvPr/>
        </p:nvSpPr>
        <p:spPr>
          <a:xfrm>
            <a:off x="8534095" y="-2286000"/>
            <a:ext cx="5486400" cy="5486400"/>
          </a:xfrm>
          <a:prstGeom prst="ellipse">
            <a:avLst/>
          </a:prstGeom>
          <a:solidFill>
            <a:srgbClr val="8B5CF6">
              <a:alpha val="10000"/>
            </a:srgbClr>
          </a:solidFill>
          <a:ln/>
        </p:spPr>
      </p:sp>
      <p:sp>
        <p:nvSpPr>
          <p:cNvPr id="4" name="Text 2"/>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10B981"/>
                </a:solidFill>
                <a:latin typeface="Calibri" pitchFamily="34" charset="0"/>
                <a:ea typeface="Calibri" pitchFamily="34" charset="-122"/>
                <a:cs typeface="Calibri" pitchFamily="34" charset="-120"/>
              </a:rPr>
              <a:t>WRAPPING UP</a:t>
            </a:r>
            <a:endParaRPr lang="en-US" sz="1300" dirty="0"/>
          </a:p>
        </p:txBody>
      </p:sp>
      <p:sp>
        <p:nvSpPr>
          <p:cNvPr id="5" name="Text 3"/>
          <p:cNvSpPr/>
          <p:nvPr/>
        </p:nvSpPr>
        <p:spPr>
          <a:xfrm>
            <a:off x="548640" y="658368"/>
            <a:ext cx="10515600" cy="731520"/>
          </a:xfrm>
          <a:prstGeom prst="rect">
            <a:avLst/>
          </a:prstGeom>
          <a:noFill/>
          <a:ln/>
        </p:spPr>
        <p:txBody>
          <a:bodyPr wrap="square" lIns="0" tIns="0" rIns="0" bIns="0" rtlCol="0" anchor="ctr"/>
          <a:lstStyle/>
          <a:p>
            <a:pPr marL="0" indent="0">
              <a:buNone/>
            </a:pPr>
            <a:r>
              <a:rPr lang="en-US" sz="3000" b="1" dirty="0">
                <a:solidFill>
                  <a:srgbClr val="F3F4F6"/>
                </a:solidFill>
                <a:latin typeface="Calibri" pitchFamily="34" charset="0"/>
                <a:ea typeface="Calibri" pitchFamily="34" charset="-122"/>
                <a:cs typeface="Calibri" pitchFamily="34" charset="-120"/>
              </a:rPr>
              <a:t>Conclusion &amp; Future Enhancements</a:t>
            </a:r>
            <a:endParaRPr lang="en-US" sz="3000" dirty="0"/>
          </a:p>
        </p:txBody>
      </p:sp>
      <p:sp>
        <p:nvSpPr>
          <p:cNvPr id="6" name="Shape 4"/>
          <p:cNvSpPr/>
          <p:nvPr/>
        </p:nvSpPr>
        <p:spPr>
          <a:xfrm>
            <a:off x="548640" y="1600200"/>
            <a:ext cx="5440680" cy="4389120"/>
          </a:xfrm>
          <a:prstGeom prst="roundRect">
            <a:avLst>
              <a:gd name="adj" fmla="val 1667"/>
            </a:avLst>
          </a:prstGeom>
          <a:solidFill>
            <a:srgbClr val="201A2C"/>
          </a:solidFill>
          <a:ln w="12700">
            <a:solidFill>
              <a:srgbClr val="373047"/>
            </a:solidFill>
            <a:prstDash val="solid"/>
          </a:ln>
          <a:effectLst>
            <a:outerShdw blurRad="101600" dist="38100" dir="5400000" algn="bl" rotWithShape="0">
              <a:srgbClr val="000000">
                <a:alpha val="25000"/>
              </a:srgbClr>
            </a:outerShdw>
          </a:effectLst>
        </p:spPr>
      </p:sp>
      <p:sp>
        <p:nvSpPr>
          <p:cNvPr id="7" name="Text 5"/>
          <p:cNvSpPr/>
          <p:nvPr/>
        </p:nvSpPr>
        <p:spPr>
          <a:xfrm>
            <a:off x="868680" y="1828800"/>
            <a:ext cx="4846320" cy="365760"/>
          </a:xfrm>
          <a:prstGeom prst="rect">
            <a:avLst/>
          </a:prstGeom>
          <a:noFill/>
          <a:ln/>
        </p:spPr>
        <p:txBody>
          <a:bodyPr wrap="square" lIns="0" tIns="0" rIns="0" bIns="0" rtlCol="0" anchor="ctr"/>
          <a:lstStyle/>
          <a:p>
            <a:pPr marL="0" indent="0">
              <a:buNone/>
            </a:pPr>
            <a:r>
              <a:rPr lang="en-US" sz="1500" b="1" dirty="0">
                <a:solidFill>
                  <a:srgbClr val="10B981"/>
                </a:solidFill>
                <a:latin typeface="Calibri" pitchFamily="34" charset="0"/>
                <a:ea typeface="Calibri" pitchFamily="34" charset="-122"/>
                <a:cs typeface="Calibri" pitchFamily="34" charset="-120"/>
              </a:rPr>
              <a:t>What We Built</a:t>
            </a:r>
            <a:endParaRPr lang="en-US" sz="1500" dirty="0"/>
          </a:p>
        </p:txBody>
      </p:sp>
      <p:sp>
        <p:nvSpPr>
          <p:cNvPr id="8" name="Text 6"/>
          <p:cNvSpPr/>
          <p:nvPr/>
        </p:nvSpPr>
        <p:spPr>
          <a:xfrm>
            <a:off x="868680" y="2286000"/>
            <a:ext cx="4846320" cy="3566160"/>
          </a:xfrm>
          <a:prstGeom prst="rect">
            <a:avLst/>
          </a:prstGeom>
          <a:noFill/>
          <a:ln/>
        </p:spPr>
        <p:txBody>
          <a:bodyPr wrap="square" lIns="0" tIns="0" rIns="0" bIns="0" rtlCol="0" anchor="ctr"/>
          <a:lstStyle/>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A role-based desktop app for Administrators, Instructors, and Students</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Centralized data model covering people, courses, sections &amp; scheduling</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Full CRUD across 7 management modules with built-in validation</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A scheduling module with automatic conflict detection</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Visual analytics for enrollment and department trends</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One consistent purple &amp; green design system across every screen</a:t>
            </a:r>
            <a:endParaRPr lang="en-US" sz="1250" dirty="0"/>
          </a:p>
        </p:txBody>
      </p:sp>
      <p:sp>
        <p:nvSpPr>
          <p:cNvPr id="9" name="Shape 7"/>
          <p:cNvSpPr/>
          <p:nvPr/>
        </p:nvSpPr>
        <p:spPr>
          <a:xfrm>
            <a:off x="6199632" y="1600200"/>
            <a:ext cx="5440680" cy="4389120"/>
          </a:xfrm>
          <a:prstGeom prst="roundRect">
            <a:avLst>
              <a:gd name="adj" fmla="val 1667"/>
            </a:avLst>
          </a:prstGeom>
          <a:solidFill>
            <a:srgbClr val="281F38"/>
          </a:solidFill>
          <a:ln w="12700">
            <a:solidFill>
              <a:srgbClr val="373047"/>
            </a:solidFill>
            <a:prstDash val="solid"/>
          </a:ln>
          <a:effectLst>
            <a:outerShdw blurRad="101600" dist="38100" dir="5400000" algn="bl" rotWithShape="0">
              <a:srgbClr val="000000">
                <a:alpha val="25000"/>
              </a:srgbClr>
            </a:outerShdw>
          </a:effectLst>
        </p:spPr>
      </p:sp>
      <p:sp>
        <p:nvSpPr>
          <p:cNvPr id="10" name="Text 8"/>
          <p:cNvSpPr/>
          <p:nvPr/>
        </p:nvSpPr>
        <p:spPr>
          <a:xfrm>
            <a:off x="6519672" y="1828800"/>
            <a:ext cx="4846320" cy="365760"/>
          </a:xfrm>
          <a:prstGeom prst="rect">
            <a:avLst/>
          </a:prstGeom>
          <a:noFill/>
          <a:ln/>
        </p:spPr>
        <p:txBody>
          <a:bodyPr wrap="square" lIns="0" tIns="0" rIns="0" bIns="0" rtlCol="0" anchor="ctr"/>
          <a:lstStyle/>
          <a:p>
            <a:pPr marL="0" indent="0">
              <a:buNone/>
            </a:pPr>
            <a:r>
              <a:rPr lang="en-US" sz="1500" b="1" dirty="0">
                <a:solidFill>
                  <a:srgbClr val="8B5CF6"/>
                </a:solidFill>
                <a:latin typeface="Calibri" pitchFamily="34" charset="0"/>
                <a:ea typeface="Calibri" pitchFamily="34" charset="-122"/>
                <a:cs typeface="Calibri" pitchFamily="34" charset="-120"/>
              </a:rPr>
              <a:t>Where It Could Go Next</a:t>
            </a:r>
            <a:endParaRPr lang="en-US" sz="1500" dirty="0"/>
          </a:p>
        </p:txBody>
      </p:sp>
      <p:sp>
        <p:nvSpPr>
          <p:cNvPr id="11" name="Text 9"/>
          <p:cNvSpPr/>
          <p:nvPr/>
        </p:nvSpPr>
        <p:spPr>
          <a:xfrm>
            <a:off x="6519672" y="2286000"/>
            <a:ext cx="4846320" cy="3566160"/>
          </a:xfrm>
          <a:prstGeom prst="rect">
            <a:avLst/>
          </a:prstGeom>
          <a:noFill/>
          <a:ln/>
        </p:spPr>
        <p:txBody>
          <a:bodyPr wrap="square" lIns="0" tIns="0" rIns="0" bIns="0" rtlCol="0" anchor="ctr"/>
          <a:lstStyle/>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Hash and salt stored passwords instead of plain text</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Move from SQL Server Express to a cloud-hosted database</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Add a web or mobile companion app for students</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Automated email notices for grades and schedule changes</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Expand analytics with trend lines and GPA tracking</a:t>
            </a:r>
            <a:endParaRPr lang="en-US" sz="1250" dirty="0"/>
          </a:p>
          <a:p>
            <a:pPr marL="342900" indent="-342900">
              <a:lnSpc>
                <a:spcPct val="140000"/>
              </a:lnSpc>
              <a:buSzPct val="100000"/>
              <a:buChar char="•"/>
            </a:pPr>
            <a:r>
              <a:rPr lang="en-US" sz="1250" dirty="0">
                <a:solidFill>
                  <a:srgbClr val="9CA3AF"/>
                </a:solidFill>
                <a:latin typeface="Calibri" pitchFamily="34" charset="0"/>
                <a:ea typeface="Calibri" pitchFamily="34" charset="-122"/>
                <a:cs typeface="Calibri" pitchFamily="34" charset="-120"/>
              </a:rPr>
              <a:t>Add an audit log for record changes made by admins</a:t>
            </a:r>
            <a:endParaRPr lang="en-US" sz="125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marL="0" indent="0" algn="ctr">
              <a:buNone/>
            </a:pPr>
            <a:r>
              <a:rPr lang="en-US" sz="1500" b="1" dirty="0">
                <a:solidFill>
                  <a:srgbClr val="F3F4F6"/>
                </a:solidFill>
                <a:latin typeface="Calibri" pitchFamily="34" charset="0"/>
                <a:ea typeface="Calibri" pitchFamily="34" charset="-122"/>
                <a:cs typeface="Calibri"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2524</Words>
  <Application>Microsoft Office PowerPoint</Application>
  <PresentationFormat>Widescreen</PresentationFormat>
  <Paragraphs>270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University Management System</dc:title>
  <dc:subject>PptxGenJS Presentation</dc:subject>
  <dc:creator>University Management System</dc:creator>
  <cp:lastModifiedBy>User</cp:lastModifiedBy>
  <cp:revision>3</cp:revision>
  <dcterms:created xsi:type="dcterms:W3CDTF">2026-06-23T19:03:12Z</dcterms:created>
  <dcterms:modified xsi:type="dcterms:W3CDTF">2026-06-24T15:25:44Z</dcterms:modified>
</cp:coreProperties>
</file>